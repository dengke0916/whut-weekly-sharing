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3"/>
  </p:notesMasterIdLst>
  <p:sldIdLst>
    <p:sldId id="257" r:id="rId3"/>
    <p:sldId id="259" r:id="rId4"/>
    <p:sldId id="265" r:id="rId5"/>
    <p:sldId id="266" r:id="rId6"/>
    <p:sldId id="267" r:id="rId7"/>
    <p:sldId id="268" r:id="rId8"/>
    <p:sldId id="275" r:id="rId9"/>
    <p:sldId id="271" r:id="rId10"/>
    <p:sldId id="272" r:id="rId11"/>
    <p:sldId id="273" r:id="rId12"/>
  </p:sldIdLst>
  <p:sldSz cx="12192000" cy="6858000"/>
  <p:notesSz cx="7103745" cy="1023429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9A"/>
    <a:srgbClr val="FBC438"/>
    <a:srgbClr val="FFA519"/>
    <a:srgbClr val="DC2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 showGuides="1">
      <p:cViewPr varScale="1">
        <p:scale>
          <a:sx n="85" d="100"/>
          <a:sy n="85" d="100"/>
        </p:scale>
        <p:origin x="547" y="58"/>
      </p:cViewPr>
      <p:guideLst>
        <p:guide orient="horz" pos="2157"/>
        <p:guide pos="2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D2A48B96-639E-45A3-A0BA-2464DFDB1FAA}" type="datetimeFigureOut">
              <a:rPr lang="zh-CN" altLang="en-US"/>
            </a:fld>
            <a:endParaRPr lang="zh-CN" altLang="en-US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6976D73-17CA-4760-B422-B34695BA10B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E044F-DA5F-4DCE-8183-BE4C7DCA04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821950-ADD1-4E4C-B2E1-0C8E716A0BE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A9C212-20E7-4D0A-BC76-271F0EB96F3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B0A1E1-B83E-4431-92B8-76A1331AFD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E03DE-F333-41A4-B4BF-CDDC22F2961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482CAC-C5BE-4E7C-9FC1-281F73ED7D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A2B9F-D07A-4DBA-BB80-B3B8D828CD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592C6B-E79F-4147-9E8A-AED034C901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DE9CFA-DEF4-447F-96B0-6F337383352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69E114-CD8D-46A0-98D0-AA5CDA4996D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12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82F288E0-7875-42C4-84C8-98DBBD3BF4D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12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6D20795B-1A1C-4981-818A-0D4F07D1F58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538605" y="1523365"/>
            <a:ext cx="911415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 Residual Learning for Image Recognition</a:t>
            </a:r>
            <a:endParaRPr lang="en-US" altLang="zh-CN" sz="4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98" name="组合 4097"/>
          <p:cNvGrpSpPr/>
          <p:nvPr/>
        </p:nvGrpSpPr>
        <p:grpSpPr>
          <a:xfrm>
            <a:off x="214971" y="305043"/>
            <a:ext cx="2433908" cy="663793"/>
            <a:chOff x="213878" y="104692"/>
            <a:chExt cx="3699770" cy="1009028"/>
          </a:xfrm>
        </p:grpSpPr>
        <p:pic>
          <p:nvPicPr>
            <p:cNvPr id="4097" name="图片 409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78" y="104692"/>
              <a:ext cx="3699770" cy="1009028"/>
            </a:xfrm>
            <a:prstGeom prst="rect">
              <a:avLst/>
            </a:prstGeom>
          </p:spPr>
        </p:pic>
        <p:grpSp>
          <p:nvGrpSpPr>
            <p:cNvPr id="2" name="组合 1"/>
            <p:cNvGrpSpPr/>
            <p:nvPr/>
          </p:nvGrpSpPr>
          <p:grpSpPr>
            <a:xfrm>
              <a:off x="213878" y="237967"/>
              <a:ext cx="801848" cy="790236"/>
              <a:chOff x="5546904" y="4550944"/>
              <a:chExt cx="1002220" cy="1021616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5546904" y="4612685"/>
                <a:ext cx="958487" cy="959875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90637" y="4550944"/>
                <a:ext cx="958487" cy="959875"/>
              </a:xfrm>
              <a:prstGeom prst="rect">
                <a:avLst/>
              </a:prstGeom>
            </p:spPr>
          </p:pic>
        </p:grpSp>
      </p:grpSp>
      <p:sp>
        <p:nvSpPr>
          <p:cNvPr id="5" name="文本框 4"/>
          <p:cNvSpPr txBox="1"/>
          <p:nvPr/>
        </p:nvSpPr>
        <p:spPr>
          <a:xfrm>
            <a:off x="4064000" y="33489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CVPR 2016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0610" y="4165600"/>
            <a:ext cx="10353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Kaiming He    Xiangyu Zhang    Shaoqing Ren    Jian Sun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16300" y="5797550"/>
            <a:ext cx="5359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October 15, 2026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975423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1.The degradation problem of deep networks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763270" y="1071880"/>
            <a:ext cx="9280525" cy="1143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96290" y="1391920"/>
            <a:ext cx="105346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VGG and GoogLeNet showed that depth is important for image classification.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But directly stacking more layers leads to "degradation":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Both training error and test error become worse;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This is not overfitting, because performance is also worse on the training set.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9830" y="3201670"/>
            <a:ext cx="6075680" cy="3158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975423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1.The degradation problem of deep networks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763270" y="1071880"/>
            <a:ext cx="9280525" cy="1143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96290" y="1391920"/>
            <a:ext cx="105130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Vanishing/exploding gradients have been alleviated by methods such as Batch Normalization(BN) and initialization, but degradation still exists. In fact, degradation means that training gets stuck; it is an optimization difficulty.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Key question: Can we make a deeper network at least no worse than a shallower network?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1073912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2.Let network learn "residuals"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763270" y="1082675"/>
            <a:ext cx="9967595" cy="63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96290" y="1391920"/>
            <a:ext cx="106743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Initial goal: the stacked layers was expected to learn the target mapping H(x).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ResNet approach: make the stacked layers learn the residual: F(x) = H(x) − x.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To the extreme, If the identity mapping is optimal, the network only needs to learn F(x) to be 0, which is easier than directly learning H(x) = x.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1041971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2.Let network learn "residuals"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763270" y="1082675"/>
            <a:ext cx="9967595" cy="63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96290" y="1391920"/>
            <a:ext cx="104197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Shortcut Connection: x is directly added to the output of later layers through a "shortcut." This shortcut has no additional parameters ,does not increase computational cost, and allows gradients to backpropagate directly from deep layers to shallow layers, thereby alleviating the vanishing gradient problem.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7755" y="2775585"/>
            <a:ext cx="4427855" cy="24149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290" y="5260975"/>
            <a:ext cx="105625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Problem: If x and F(x) have different shapes, they cannot be added directly.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core idea: The essence of ResNet is not "deepening," but "making depth trainable."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89852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3.Two residual blocks and architecture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63270" y="1083310"/>
            <a:ext cx="7759700" cy="190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96290" y="1391920"/>
            <a:ext cx="1041971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BasicBlock: two 3×3 convolutions, used in ResNet-18/34.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Bottleneck: 1×1 dimensionality reduction → 3×3 convolution → 1×1 dimensionality expansion, used in ResNet-50/101/152. This is mainly for controlling the amount of computation.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Overall architecture: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Preprocessing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downsampling part: conv1---7×7 convolution + max pooling;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4 stages with stacked residual blocks: conv2_x、conv3_x、conv4_x、conv5_x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Global Average Pooling(GAP) + fully connected classification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89852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3.Two residual blocks and architecture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63270" y="1083310"/>
            <a:ext cx="7759700" cy="190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95" y="1245870"/>
            <a:ext cx="11077575" cy="48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59626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4.Experimental procedure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63270" y="1083310"/>
            <a:ext cx="5175250" cy="190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63270" y="1353820"/>
            <a:ext cx="1086421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Datasets: ImageNet 1000 classes; CIFAR-10; COCO detection/segmentation.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 augmentation: random cropping, horizontal flipping, color normalization, etc.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Optimization: SGD, momentum=0.9, batch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size=256, weight decay=1e-4.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Learning rate: starts at 0.1, reduced by a factor of 10 when the error plateaus.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Use BN, do not use dropout.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Comparison: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Same depth: plain network vs. residual network.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Residual networks at different depths: ResNet-18/34/50/101/152.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Highlight: The plain and ResNet structures are basically identical; the only key difference is whether a shortcut is used.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318833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5.Results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763270" y="1075690"/>
            <a:ext cx="1725930" cy="762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63270" y="1291590"/>
            <a:ext cx="108642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ImageNet: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ResNet-152 ensemble model achieved a top-5 error of 3.57% and won the ILSVRC 2015 classification championship;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the single model achieved about 4.49% top-5 error.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4930" y="2649220"/>
            <a:ext cx="3776345" cy="15513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715" y="2343150"/>
            <a:ext cx="2968625" cy="18573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3270" y="4234180"/>
            <a:ext cx="107708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 impact of depth: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When plain networks are made deeper, they instead suffer from degradation.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ResNet-34 is significantly better than ResNet-18; 50/101/152 continue to improve;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Experimental conclusion: Residual connections are generally effective and make extremely deep networks truly trainable.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0" y="2716530"/>
            <a:ext cx="3035300" cy="852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0235" y="445770"/>
            <a:ext cx="485838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Contributions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63270" y="1083310"/>
            <a:ext cx="3153410" cy="190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63270" y="1353820"/>
            <a:ext cx="1086421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Proposed the residual learning framework;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Solved the degradation problem of deep networks;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Became a foundational component in subsequent network design;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Provided a general method for making deep networks optimizable;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3521</Words>
  <Application>WPS 演示</Application>
  <PresentationFormat>宽屏</PresentationFormat>
  <Paragraphs>98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Calibri Light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锐旗设计；https://9ppt.taobao.com</dc:description>
  <cp:lastModifiedBy>　</cp:lastModifiedBy>
  <cp:revision>38</cp:revision>
  <dcterms:created xsi:type="dcterms:W3CDTF">2017-10-19T03:01:00Z</dcterms:created>
  <dcterms:modified xsi:type="dcterms:W3CDTF">2026-10-14T14:45:26Z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DD1526BE520446A386DC11C1D12BF683_13</vt:lpwstr>
  </property>
</Properties>
</file>