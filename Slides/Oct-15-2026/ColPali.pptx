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60" r:id="rId4"/>
    <p:sldId id="262" r:id="rId5"/>
    <p:sldId id="287" r:id="rId6"/>
    <p:sldId id="288" r:id="rId7"/>
    <p:sldId id="300" r:id="rId8"/>
    <p:sldId id="289" r:id="rId9"/>
    <p:sldId id="291" r:id="rId10"/>
    <p:sldId id="301" r:id="rId11"/>
    <p:sldId id="290" r:id="rId12"/>
    <p:sldId id="263" r:id="rId13"/>
    <p:sldId id="283" r:id="rId14"/>
    <p:sldId id="285" r:id="rId15"/>
    <p:sldId id="286" r:id="rId16"/>
    <p:sldId id="284" r:id="rId17"/>
    <p:sldId id="293" r:id="rId18"/>
    <p:sldId id="303" r:id="rId19"/>
    <p:sldId id="296" r:id="rId20"/>
    <p:sldId id="304" r:id="rId21"/>
    <p:sldId id="305" r:id="rId22"/>
    <p:sldId id="30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志鹏 段" initials="志段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63" y="72"/>
      </p:cViewPr>
      <p:guideLst>
        <p:guide orient="horz" pos="2059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64335"/>
            <a:ext cx="9144000" cy="1673225"/>
          </a:xfrm>
        </p:spPr>
        <p:txBody>
          <a:bodyPr/>
          <a:lstStyle/>
          <a:p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ColPali: Efficient Document Retrieval with Vision Language Models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720590" y="4145915"/>
            <a:ext cx="2630170" cy="687705"/>
          </a:xfrm>
        </p:spPr>
        <p:txBody>
          <a:bodyPr/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ICLR 2025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29050" y="5295265"/>
            <a:ext cx="399478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/>
              <a:t>Presenter</a:t>
            </a:r>
            <a:r>
              <a:rPr lang="zh-CN" altLang="en-US"/>
              <a:t>：黄清华</a:t>
            </a:r>
            <a:r>
              <a:rPr lang="en-US" altLang="zh-CN"/>
              <a:t>              2026.10.15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15" y="1447165"/>
            <a:ext cx="6522085" cy="43059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200" y="433706"/>
            <a:ext cx="1790065" cy="3943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665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Background</a:t>
            </a:r>
            <a:endParaRPr lang="en-US" altLang="zh-CN" sz="2665" b="1" kern="0" spc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pitchFamily="34" charset="-12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 flipV="1">
            <a:off x="263525" y="1064895"/>
            <a:ext cx="11737340" cy="14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03200" y="1381125"/>
            <a:ext cx="5765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Document retrieval is a fundamental component of search engines and Retrieval-Augmented Generation (RAG) systems.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03200" y="2948940"/>
            <a:ext cx="57658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Despite advances in text embedding models, practical retrieval systems still rely on complex document ingestion pipelines.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03200" y="4516755"/>
            <a:ext cx="57658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Existing pipelines usually convert visual documents into text representations through multiple stages, including OCR, layout detection, chunking and captioning. Such preprocessing may introduce information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8475" y="476251"/>
            <a:ext cx="4248150" cy="3943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altLang="zh-CN" sz="2665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charset="0"/>
              </a:rPr>
              <a:t>Problem Setting &amp; Challenge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 flipV="1">
            <a:off x="263525" y="1064895"/>
            <a:ext cx="11737340" cy="14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97840" y="3509645"/>
            <a:ext cx="11045825" cy="2401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en-US" altLang="zh-CN" sz="2400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charset="0"/>
                <a:sym typeface="+mn-ea"/>
              </a:rPr>
              <a:t>Challenge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Visual information is poorly exploited: existing systems mainly rely on extracted textual content.</a:t>
            </a: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Document ingestion pipelines are complex and costly: OCR, layout detection, chunking and captioning introduce substantial preprocessing overhead.</a:t>
            </a: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Existing benchmarks are insufficient for visually rich document retrieval: text retrieval benchmarks focus on passages, while vision-language benchmarks mainly focus on natural images.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7840" y="6050915"/>
            <a:ext cx="110464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  <a:latin typeface="Times New Roman" panose="02020603050405020304" charset="0"/>
                <a:cs typeface="Times New Roman" panose="02020603050405020304" charset="0"/>
              </a:rPr>
              <a:t>Core Question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How can we evaluate and retrieve visually rich documents efficiently without relying on text-centric preprocessing pipelines?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97840" y="1082675"/>
                <a:ext cx="10485755" cy="2306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Problem Setting</a:t>
                </a:r>
                <a:endParaRPr lang="en-US" altLang="zh-CN" sz="24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indent="0" fontAlgn="auto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</a:rPr>
                  <a:t>Given a query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𝑞</m:t>
                    </m:r>
                  </m:oMath>
                </a14:m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</a:rPr>
                  <a:t>, the retrieval system aims to retrieve the most relevant document page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𝑑</m:t>
                    </m:r>
                  </m:oMath>
                </a14:m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</a:rPr>
                  <a:t> from a collection of document pages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</a:rPr>
                  <a:t>.</a:t>
                </a:r>
              </a:p>
              <a:p>
                <a:pPr indent="0" fontAlgn="auto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</a:rPr>
                  <a:t>Unlike traditional text retrieval, this task considers the full visual content of document pages, including text, tables, figures, and layouts.This work focuses on page-level retrieval, where each page is treated as an atomic retrieval unit.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" y="1082675"/>
                <a:ext cx="10485755" cy="23069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0540" y="405131"/>
            <a:ext cx="3513455" cy="3943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altLang="zh-CN" sz="2665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charset="0"/>
              </a:rPr>
              <a:t>Contributions Overview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280785" y="1401445"/>
            <a:ext cx="6098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. ViDoRe: A Benchmark for Visual Document Retrieval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80785" y="2018030"/>
            <a:ext cx="5549265" cy="3485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indent="0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Introduces a comprehensive page-level retrieval benchmark for visually rich documents.</a:t>
            </a:r>
          </a:p>
          <a:p>
            <a:pPr indent="0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Covers multiple modalities, domains, languages, and practical retrieval settings.</a:t>
            </a:r>
          </a:p>
          <a:p>
            <a:pPr indent="0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Evaluates not only retrieval quality, but also query latency and indexing efficiency.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0540" y="1401445"/>
            <a:ext cx="5481955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. ColPali: A Vision-Based Document Retrieval Method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0540" y="2044065"/>
            <a:ext cx="4748530" cy="3486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Proposes a Vision-Language Model based retriever that directly embeds document page images.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Represents each page with multi-vector embeddings rather than a single dense vector.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Uses late interaction for efficient query-to-page matching, avoiding complex OCR-centered preprocessing.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3855" y="5911850"/>
            <a:ext cx="9643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ColPali provides an efficient solution;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ViDoRe defines the problem.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270" y="1413510"/>
            <a:ext cx="6983730" cy="42760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0040" y="292608"/>
            <a:ext cx="396049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ColPali: Method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1174115"/>
            <a:ext cx="5212080" cy="679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 directly embeds document page images for retrieval.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310130"/>
            <a:ext cx="512064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spcBef>
                <a:spcPts val="1200"/>
              </a:spcBef>
              <a:spcAft>
                <a:spcPts val="12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Encode document pages directly from their rendered images.</a:t>
            </a:r>
          </a:p>
          <a:p>
            <a:pPr indent="0" fontAlgn="auto">
              <a:spcBef>
                <a:spcPts val="1200"/>
              </a:spcBef>
              <a:spcAft>
                <a:spcPts val="12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Map text queries and page images into a shared embedding space.</a:t>
            </a:r>
          </a:p>
          <a:p>
            <a:pPr indent="0" fontAlgn="auto">
              <a:spcBef>
                <a:spcPts val="1200"/>
              </a:spcBef>
              <a:spcAft>
                <a:spcPts val="12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Represent each page as multiple token-level vectors.</a:t>
            </a:r>
          </a:p>
          <a:p>
            <a:pPr indent="0" fontAlgn="auto">
              <a:spcBef>
                <a:spcPts val="1200"/>
              </a:spcBef>
              <a:spcAft>
                <a:spcPts val="12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Compute relevance with late interaction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730" y="5689600"/>
            <a:ext cx="8066405" cy="88392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l"/>
            <a:r>
              <a:rPr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retrieval in vision space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without OCR-centered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92608"/>
            <a:ext cx="545719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ColPali: Multi-Vector Representation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115695"/>
            <a:ext cx="10607040" cy="675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19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Both queries and document pages are represented as sequences of 128-dimensional vectors, rather than a single dense vector.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20040" y="19653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Query Representation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502920" y="2972435"/>
            <a:ext cx="1604010" cy="9144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Query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3021965" y="2972435"/>
            <a:ext cx="1840230" cy="9144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Tokenization + PaliGemma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5777230" y="2972435"/>
            <a:ext cx="1949450" cy="9144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Projection Head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圆角矩形 27"/>
              <p:cNvSpPr/>
              <p:nvPr/>
            </p:nvSpPr>
            <p:spPr>
              <a:xfrm>
                <a:off x="8950960" y="2972435"/>
                <a:ext cx="2082165" cy="9144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Query Embedding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×128</m:t>
                      </m:r>
                    </m:oMath>
                  </m:oMathPara>
                </a14:m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28" name="圆角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960" y="2972435"/>
                <a:ext cx="2082165" cy="914400"/>
              </a:xfrm>
              <a:prstGeom prst="roundRect">
                <a:avLst/>
              </a:prstGeom>
              <a:blipFill rotWithShape="1">
                <a:blip r:embed="rId3"/>
                <a:stretch>
                  <a:fillRect l="-305" t="-694" r="-305" b="-694"/>
                </a:stretch>
              </a:blipFill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/>
          <p:cNvCxnSpPr>
            <a:stCxn id="23" idx="3"/>
            <a:endCxn id="26" idx="1"/>
          </p:cNvCxnSpPr>
          <p:nvPr/>
        </p:nvCxnSpPr>
        <p:spPr>
          <a:xfrm>
            <a:off x="2106930" y="3429635"/>
            <a:ext cx="9150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6" idx="3"/>
            <a:endCxn id="27" idx="1"/>
          </p:cNvCxnSpPr>
          <p:nvPr/>
        </p:nvCxnSpPr>
        <p:spPr>
          <a:xfrm>
            <a:off x="4862195" y="3429635"/>
            <a:ext cx="9150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  <a:endCxn id="28" idx="1"/>
          </p:cNvCxnSpPr>
          <p:nvPr/>
        </p:nvCxnSpPr>
        <p:spPr>
          <a:xfrm>
            <a:off x="7726680" y="3429635"/>
            <a:ext cx="12242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20040" y="4150995"/>
            <a:ext cx="664464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Queries are tokenized into subword tokens rather than words.  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Additional formatting and query-expansion tokens are included during preprocessing.  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Therefore, the number of query vectors depends on the query length after tokenization.  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Each resulting token representation is projected to 128 dimensions.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7401560" y="4427220"/>
                <a:ext cx="4064000" cy="70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∈ 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×128</m:t>
                        </m:r>
                      </m:sup>
                    </m:sSup>
                  </m:oMath>
                </a14:m>
                <a:r>
                  <a:rPr lang="en-US" altLang="zh-CN" sz="2800"/>
                  <a:t> </a:t>
                </a:r>
                <a:endParaRPr lang="en-US" altLang="zh-CN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560" y="4427220"/>
                <a:ext cx="4064000" cy="709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92608"/>
            <a:ext cx="545719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ColPali: Multi-Vector Representation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8920" y="1992630"/>
            <a:ext cx="1920240" cy="6858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Document Page
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992630"/>
            <a:ext cx="1838325" cy="6858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PaliGemma-3B
(VLM)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1240" y="1992630"/>
            <a:ext cx="2357120" cy="6858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1024 Image Patch Tokens</a:t>
            </a:r>
          </a:p>
          <a:p>
            <a:pPr algn="ctr"/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+ 6 Prompt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67320" y="1992630"/>
            <a:ext cx="1645920" cy="6858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Projection Head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20040" y="1158240"/>
            <a:ext cx="5457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Document Page Representation</a:t>
            </a:r>
          </a:p>
        </p:txBody>
      </p:sp>
      <p:sp>
        <p:nvSpPr>
          <p:cNvPr id="20" name="Rounded Rectangle 10"/>
          <p:cNvSpPr/>
          <p:nvPr/>
        </p:nvSpPr>
        <p:spPr>
          <a:xfrm>
            <a:off x="9982200" y="1992630"/>
            <a:ext cx="1838325" cy="6858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Page Embedding</a:t>
            </a:r>
          </a:p>
          <a:p>
            <a:pPr algn="ctr"/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1030 × 128</a:t>
            </a:r>
          </a:p>
        </p:txBody>
      </p:sp>
      <p:cxnSp>
        <p:nvCxnSpPr>
          <p:cNvPr id="23" name="直接箭头连接符 22"/>
          <p:cNvCxnSpPr>
            <a:stCxn id="5" idx="3"/>
            <a:endCxn id="7" idx="1"/>
          </p:cNvCxnSpPr>
          <p:nvPr/>
        </p:nvCxnSpPr>
        <p:spPr>
          <a:xfrm>
            <a:off x="2169160" y="2335530"/>
            <a:ext cx="482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3"/>
            <a:endCxn id="9" idx="1"/>
          </p:cNvCxnSpPr>
          <p:nvPr/>
        </p:nvCxnSpPr>
        <p:spPr>
          <a:xfrm>
            <a:off x="4490085" y="2335530"/>
            <a:ext cx="3511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9" idx="3"/>
            <a:endCxn id="11" idx="1"/>
          </p:cNvCxnSpPr>
          <p:nvPr/>
        </p:nvCxnSpPr>
        <p:spPr>
          <a:xfrm>
            <a:off x="7198360" y="23355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1" idx="3"/>
            <a:endCxn id="20" idx="1"/>
          </p:cNvCxnSpPr>
          <p:nvPr/>
        </p:nvCxnSpPr>
        <p:spPr>
          <a:xfrm>
            <a:off x="9413240" y="23355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248920" y="3429000"/>
                <a:ext cx="8859520" cy="2368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• 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The 448×448 page image is divided into a 32×32 grid of non-overlapping 14×14 patches. Each patch is encoded as one visual token and finally projected into a 128-dimensional vector.</a:t>
                </a:r>
              </a:p>
              <a:p>
                <a:pPr indent="0" fontAlgn="auto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• 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6 prompt tokens: </a:t>
                </a:r>
                <a:r>
                  <a:rPr lang="en-US" altLang="zh-CN" dirty="0" err="1">
                    <a:latin typeface="Times New Roman" panose="02020603050405020304" charset="0"/>
                    <a:cs typeface="Times New Roman" panose="02020603050405020304" charset="0"/>
                  </a:rPr>
                  <a:t>ColPali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 additionally prepends the prompt “Describe the image”, which contributes 6 text tokens to the page representation.</a:t>
                </a:r>
              </a:p>
              <a:p>
                <a:pPr indent="0" fontAlgn="auto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• 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128-dimensional projection: Each of the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 1024+6=1030 </m:t>
                    </m:r>
                  </m:oMath>
                </a14:m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token embeddings is projected into a 128-dimensional vector space.</a:t>
                </a:r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" y="3429000"/>
                <a:ext cx="8859520" cy="2368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400" y="2943225"/>
            <a:ext cx="2407920" cy="3131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92608"/>
            <a:ext cx="3721735" cy="49149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ColPali: Late Interaction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97280"/>
            <a:ext cx="987552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Fine-grained matching happens after query and document representations are computed.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846320" cy="98361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 panose="020B0604020202020204"/>
              </a:defRPr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• For each query vector, compare it with all page vectors.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 panose="020B0604020202020204"/>
              </a:defRPr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• Keep the maximum similarity score (MaxSim).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Arial" panose="020B0604020202020204"/>
              </a:defRPr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• Sum MaxSim scores over all query vectors.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532119" y="1810385"/>
                <a:ext cx="6146533" cy="123367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𝐿𝐼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 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𝑑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∈[|1,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|]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∈[|1,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|]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𝑞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𝑑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𝑗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sz="2800" dirty="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19" y="1810385"/>
                <a:ext cx="6146533" cy="1233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502920" y="3269615"/>
                <a:ext cx="9549765" cy="232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For example,  suppose a query is represented 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22×128</m:t>
                        </m:r>
                      </m:sup>
                    </m:sSup>
                  </m:oMath>
                </a14:m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,while the page representation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1030×128</m:t>
                        </m:r>
                      </m:sup>
                    </m:sSup>
                  </m:oMath>
                </a14:m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.We first compute:</a:t>
                </a:r>
              </a:p>
              <a:p>
                <a:pPr indent="0" algn="ctr" fontAlgn="auto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22×1030</m:t>
                          </m:r>
                        </m:sup>
                      </m:sSup>
                    </m:oMath>
                  </m:oMathPara>
                </a14:m>
                <a:endParaRPr lang="en-US" altLang="zh-CN" sz="24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indent="0" fontAlgn="auto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</a:rPr>
                  <a:t>Then, we take the maximum value of each row and sum the 22 MaxSim scores to obtain the final query–page relevance score.</a:t>
                </a: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269615"/>
                <a:ext cx="9549765" cy="23215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502920" y="5765800"/>
            <a:ext cx="9285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Late interaction preserves fine-grained local matching while allowing document embeddings to be pre-computed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92608"/>
            <a:ext cx="746823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ColPali: From LI Scores to Positive / Negative Pairs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97280"/>
            <a:ext cx="960120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For each query, ColPali computes a Late Interaction score with every candidate page.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160" y="1612900"/>
            <a:ext cx="5781040" cy="16268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15315" y="1778635"/>
            <a:ext cx="447992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page with the highest LI score is ranked first.However, the Rank-1 page is not necessarily the ground-truth page during training.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05" y="3178810"/>
            <a:ext cx="4868545" cy="23209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699760" y="342900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Diagonal entries: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Correct query–page pairs (positive pairs)</a:t>
            </a: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Off-diagonal entries: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Incorrect query–page pairs (in-batch negatives)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787400" y="5499735"/>
                <a:ext cx="9417685" cy="384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• 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Positive score: the score of the ground-truth query–page pair: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𝐿𝐼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5499735"/>
                <a:ext cx="9417685" cy="3841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787400" y="6060440"/>
                <a:ext cx="9732645" cy="459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• </a:t>
                </a:r>
                <a:r>
                  <a:rPr dirty="0">
                    <a:latin typeface="Times New Roman" panose="02020603050405020304" charset="0"/>
                    <a:cs typeface="Times New Roman" panose="02020603050405020304" charset="0"/>
                  </a:rPr>
                  <a:t>Hardest negative: the highest-scoring incorrect page in the same batch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: 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max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 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𝑙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𝐿𝐼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e>
                    </m:func>
                  </m:oMath>
                </a14:m>
                <a:endParaRPr lang="zh-CN" altLang="en-US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6060440"/>
                <a:ext cx="9732645" cy="4591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92608"/>
            <a:ext cx="580834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600" b="1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Contrastive Training Objective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441960" y="1689735"/>
                <a:ext cx="4480560" cy="795655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lIns="109728" rtlCol="0" anchor="ctr"/>
              <a:lstStyle/>
              <a:p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Positive score: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</m:sup>
                    </m:sSubSup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𝐿𝐼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</a:t>
                </a:r>
                <a:endParaRPr lang="en-US" sz="2000" i="1" dirty="0">
                  <a:solidFill>
                    <a:srgbClr val="000000"/>
                  </a:solidFill>
                  <a:latin typeface="Times New Roman" panose="02020603050405020304" charset="0"/>
                  <a:ea typeface="MS Mincho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1689735"/>
                <a:ext cx="4480560" cy="795655"/>
              </a:xfrm>
              <a:prstGeom prst="roundRect">
                <a:avLst/>
              </a:prstGeom>
              <a:blipFill>
                <a:blip r:embed="rId3"/>
                <a:stretch>
                  <a:fillRect l="-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41960" y="2713990"/>
                <a:ext cx="4480560" cy="1006475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lIns="109728" rtlCol="0" anchor="ctr"/>
              <a:lstStyle/>
              <a:p>
                <a:pPr algn="l"/>
                <a:r>
                  <a:rPr sz="2000" dirty="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Hardest in-batch negative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max</m:t>
                              </m:r>
                              <m:r>
                                <a:rPr 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 </m:t>
                              </m:r>
                            </m:e>
                            <m:lim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𝑙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𝐿𝐼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2713990"/>
                <a:ext cx="4480560" cy="10064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42560" y="1570990"/>
                <a:ext cx="5760720" cy="1570355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𝐿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p>
                        <m:e>
                          <m:func>
                            <m:funcPr>
                              <m:ctrl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fun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i="1" dirty="0">
                  <a:solidFill>
                    <a:srgbClr val="0000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1828800" lvl="4" indent="457200" algn="r"/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b: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batch size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560" y="1570990"/>
                <a:ext cx="5760720" cy="157035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533400" y="1111250"/>
            <a:ext cx="10144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interaction is fully differentiable, allowing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ColPali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trained end-to-end.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5466080" y="3961130"/>
                <a:ext cx="482473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case1: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≫0</m:t>
                    </m:r>
                  </m:oMath>
                </a14:m>
                <a:endParaRPr lang="en-US" altLang="zh-CN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Small loss, confident correct ranking</a:t>
                </a: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0" y="3961130"/>
                <a:ext cx="4824730" cy="6451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5466080" y="5749290"/>
                <a:ext cx="5434965" cy="9398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/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case3: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≤0</m:t>
                    </m:r>
                  </m:oMath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Wrong / ambiguous ranking, large loss.</a:t>
                </a:r>
              </a:p>
              <a:p>
                <a:pPr algn="l"/>
                <a:r>
                  <a:rPr lang="en-US" altLang="zh-CN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Optimization pushes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↑&amp; 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↓</m:t>
                    </m:r>
                  </m:oMath>
                </a14:m>
                <a:endParaRPr lang="en-US" altLang="zh-CN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0" y="5749290"/>
                <a:ext cx="5434965" cy="9398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812800" y="4643120"/>
            <a:ext cx="3484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The model learns to maximize the margin between the ground-truth page and the hardest negative page.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5466080" y="4855210"/>
                <a:ext cx="580771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case2: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&gt;0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Correct ranking, but margin is still enlarged</a:t>
                </a: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0" y="4855210"/>
                <a:ext cx="5807710" cy="64516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5998210" y="3317240"/>
                <a:ext cx="4064000" cy="37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210" y="3317240"/>
                <a:ext cx="4064000" cy="37909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92608"/>
            <a:ext cx="3730188" cy="492443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ColPali</a:t>
            </a:r>
            <a:r>
              <a:rPr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Training </a:t>
            </a:r>
            <a:r>
              <a:rPr lang="en-US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etails</a:t>
            </a:r>
            <a:endParaRPr sz="2600" b="1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97280"/>
            <a:ext cx="960120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The model is trained on query–page pairs and optimized for retrieval.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019040" cy="368173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65760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Training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434840" cy="304609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118,695 query–page pairs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in total: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63% from public academic datasets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 37% from synthetic web-crawled PDFs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 Synthetic queries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 generated 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with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 Claude-3 Sonnet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English-only training set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zh-C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No document overlap between Training data and </a:t>
            </a:r>
            <a:r>
              <a:rPr lang="en-US" altLang="zh-CN" sz="1800" dirty="0" err="1">
                <a:latin typeface="Times New Roman" panose="02020603050405020304" charset="0"/>
                <a:cs typeface="Times New Roman" panose="02020603050405020304" charset="0"/>
              </a:rPr>
              <a:t>ViDoRe</a:t>
            </a: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 test sets.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019040" cy="368173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3931920" cy="3683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Training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434840" cy="25228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indent="0" fontAlgn="auto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1 training epoch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800" dirty="0" err="1">
                <a:latin typeface="Times New Roman" panose="02020603050405020304" charset="0"/>
                <a:cs typeface="Times New Roman" panose="02020603050405020304" charset="0"/>
              </a:rPr>
              <a:t>LoRA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 fine-tuning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: r = 32, α = 32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bfloat16 + paged </a:t>
            </a:r>
            <a:r>
              <a:rPr sz="1800" dirty="0" err="1">
                <a:latin typeface="Times New Roman" panose="02020603050405020304" charset="0"/>
                <a:cs typeface="Times New Roman" panose="02020603050405020304" charset="0"/>
              </a:rPr>
              <a:t>AdamW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 8-bit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Batch size = 32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Learning rate = 5 × 10⁻⁵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  <a:latin typeface="Arial" panose="020B0604020202020204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8-GPU data parallel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47472"/>
            <a:ext cx="128968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latin typeface="Times New Roman" panose="02020603050405020304" charset="0"/>
                <a:cs typeface="Times New Roman" panose="02020603050405020304" charset="0"/>
              </a:rPr>
              <a:t>ViDoRe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ViDoRe evaluates whether a retrieval system can match a user query to the correct document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303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latin typeface="Times New Roman" panose="02020603050405020304" charset="0"/>
                <a:cs typeface="Times New Roman" panose="02020603050405020304" charset="0"/>
              </a:rPr>
              <a:t>Modalities: </a:t>
            </a:r>
            <a:r>
              <a:rPr sz="1500">
                <a:latin typeface="Times New Roman" panose="02020603050405020304" charset="0"/>
                <a:cs typeface="Times New Roman" panose="02020603050405020304" charset="0"/>
              </a:rPr>
              <a:t>text, figures, infographics,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48840"/>
            <a:ext cx="5303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latin typeface="Times New Roman" panose="02020603050405020304" charset="0"/>
                <a:cs typeface="Times New Roman" panose="02020603050405020304" charset="0"/>
              </a:rPr>
              <a:t>Domains: </a:t>
            </a:r>
            <a:r>
              <a:rPr sz="1500">
                <a:latin typeface="Times New Roman" panose="02020603050405020304" charset="0"/>
                <a:cs typeface="Times New Roman" panose="02020603050405020304" charset="0"/>
              </a:rPr>
              <a:t>medical, business, scientific, administrative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78608"/>
            <a:ext cx="5303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latin typeface="Times New Roman" panose="02020603050405020304" charset="0"/>
                <a:cs typeface="Times New Roman" panose="02020603050405020304" charset="0"/>
              </a:rPr>
              <a:t>Languages: </a:t>
            </a:r>
            <a:r>
              <a:rPr sz="1500">
                <a:latin typeface="Times New Roman" panose="02020603050405020304" charset="0"/>
                <a:cs typeface="Times New Roman" panose="02020603050405020304" charset="0"/>
              </a:rPr>
              <a:t>English and French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578608"/>
            <a:ext cx="5303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latin typeface="Times New Roman" panose="02020603050405020304" charset="0"/>
                <a:cs typeface="Times New Roman" panose="02020603050405020304" charset="0"/>
              </a:rPr>
              <a:t>Task difficulty: </a:t>
            </a:r>
            <a:r>
              <a:rPr sz="1500">
                <a:latin typeface="Times New Roman" panose="02020603050405020304" charset="0"/>
                <a:cs typeface="Times New Roman" panose="02020603050405020304" charset="0"/>
              </a:rPr>
              <a:t>from simple to visually complex retrieval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 dirty="0">
                <a:solidFill>
                  <a:srgbClr val="183D83"/>
                </a:solidFill>
                <a:latin typeface="Times New Roman" panose="02020603050405020304" charset="0"/>
                <a:cs typeface="Times New Roman" panose="02020603050405020304" charset="0"/>
              </a:rPr>
              <a:t>10 sub-datasets: 5 academic tasks + 5 practical tasks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3310128"/>
            <a:ext cx="8183879" cy="3129130"/>
          </a:xfrm>
          <a:prstGeom prst="rect">
            <a:avLst/>
          </a:prstGeom>
        </p:spPr>
      </p:pic>
      <p:cxnSp>
        <p:nvCxnSpPr>
          <p:cNvPr id="12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47472"/>
            <a:ext cx="407733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ViDoRe: Task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ViDoRe contains two complementary types of retrieval tasks.</a:t>
            </a:r>
          </a:p>
        </p:txBody>
      </p:sp>
      <p:cxnSp>
        <p:nvCxnSpPr>
          <p:cNvPr id="8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31240" y="1950085"/>
            <a:ext cx="4368165" cy="3858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spcBef>
                <a:spcPts val="600"/>
              </a:spcBef>
              <a:spcAft>
                <a:spcPts val="600"/>
              </a:spcAft>
            </a:pPr>
            <a:r>
              <a:rPr sz="20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Academic Tasks</a:t>
            </a:r>
            <a:endParaRPr sz="2000" b="1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Existing Visual Question Answering datasets are repurposed as retrieval tasks.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each (page, question, answer) triplet: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fontAlgn="auto">
              <a:spcBef>
                <a:spcPts val="600"/>
              </a:spcBef>
              <a:spcAft>
                <a:spcPts val="600"/>
              </a:spcAft>
              <a:defRPr sz="1450" b="1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Query = Question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fontAlgn="auto">
              <a:spcBef>
                <a:spcPts val="600"/>
              </a:spcBef>
              <a:spcAft>
                <a:spcPts val="600"/>
              </a:spcAft>
              <a:defRPr sz="1450" b="1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Gold document = Corresponding page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Examples: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DocVQA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InfoVQA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TAT-DQA,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arXivQA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TabFQuAD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08040" y="1950085"/>
            <a:ext cx="5141595" cy="3493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spcBef>
                <a:spcPts val="600"/>
              </a:spcBef>
              <a:spcAft>
                <a:spcPts val="600"/>
              </a:spcAft>
            </a:pPr>
            <a:r>
              <a:rPr sz="20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Practical Tasks</a:t>
            </a:r>
            <a:endParaRPr sz="2000" b="1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Designed to better reflect realistic industrial retrieval scenarios such as RAG.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Public PDF documents are collected from multiple domains.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Queries are generated from document pages using Claude-3 Sonnet.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Each topic contains 1,000 pages and 100 manually filtered queries.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D0A3B29F-2AAF-40C0-5B97-25F491D4E87B}"/>
              </a:ext>
            </a:extLst>
          </p:cNvPr>
          <p:cNvSpPr/>
          <p:nvPr/>
        </p:nvSpPr>
        <p:spPr>
          <a:xfrm>
            <a:off x="1731544" y="5684144"/>
            <a:ext cx="8728911" cy="1040881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46304" tIns="146304" rIns="146304" bIns="146304"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ViDoRe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existing academic resources with newly constructed practical retrieval tasks, providing a more comprehensive evaluation framework for visual document retrieval.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47472"/>
            <a:ext cx="588645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ViDoRe: Examples from the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Each example pairs a natural-language query with the relevant document page.</a:t>
            </a:r>
          </a:p>
        </p:txBody>
      </p:sp>
      <p:pic>
        <p:nvPicPr>
          <p:cNvPr id="5" name="Picture 4" descr="vidore_examples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5394960" cy="2961939"/>
          </a:xfrm>
          <a:prstGeom prst="rect">
            <a:avLst/>
          </a:prstGeom>
        </p:spPr>
      </p:pic>
      <p:pic>
        <p:nvPicPr>
          <p:cNvPr id="6" name="Picture 5" descr="vidore_examples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7360"/>
            <a:ext cx="5394960" cy="2909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512064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Energy: queries may require reading charts, tables, and report layouts.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623560"/>
            <a:ext cx="512064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Artificial Intelligence: queries may target scientific figures and technical diagrams.</a:t>
            </a:r>
          </a:p>
        </p:txBody>
      </p:sp>
      <p:cxnSp>
        <p:nvCxnSpPr>
          <p:cNvPr id="10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47472"/>
            <a:ext cx="429069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ViDoRe: 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The benchmark measures both retrieval effectiveness and practical system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212080" cy="132588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46304" tIns="146304" rIns="146304" bIns="146304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Page-level Retrieval</a:t>
            </a:r>
          </a:p>
          <a:p>
            <a:pPr>
              <a:spcAft>
                <a:spcPts val="4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Given a query, the system scores candidate document pages and produces a ranked list.</a:t>
            </a:r>
          </a:p>
          <a:p>
            <a:pPr>
              <a:spcAft>
                <a:spcPts val="4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gold page should appear as high as possible in the ranking.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1828800" cy="8229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28016" tIns="91440" rIns="128016" bIns="91440" rtlCol="0" anchor="ctr"/>
          <a:lstStyle/>
          <a:p>
            <a:pPr algn="ctr"/>
            <a:r>
              <a:rPr sz="1500" b="1">
                <a:solidFill>
                  <a:srgbClr val="183D83"/>
                </a:solidFill>
                <a:latin typeface="Times New Roman" panose="02020603050405020304" charset="0"/>
                <a:cs typeface="Times New Roman" panose="02020603050405020304" charset="0"/>
              </a:rPr>
              <a:t>Query</a:t>
            </a:r>
          </a:p>
          <a:p>
            <a:pPr algn="ctr">
              <a:defRPr sz="130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user information 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3657600"/>
            <a:ext cx="2103120" cy="8229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28016" tIns="91440" rIns="128016" bIns="91440" rtlCol="0" anchor="ctr"/>
          <a:lstStyle/>
          <a:p>
            <a:pPr algn="ctr"/>
            <a:r>
              <a:rPr sz="1500" b="1">
                <a:solidFill>
                  <a:srgbClr val="183D83"/>
                </a:solidFill>
                <a:latin typeface="Times New Roman" panose="02020603050405020304" charset="0"/>
                <a:cs typeface="Times New Roman" panose="02020603050405020304" charset="0"/>
              </a:rPr>
              <a:t>Candidate Pages</a:t>
            </a:r>
          </a:p>
          <a:p>
            <a:pPr algn="ctr">
              <a:defRPr sz="130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page-level corpus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3657600"/>
            <a:ext cx="1874519" cy="8229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28016" tIns="91440" rIns="128016" bIns="91440" rtlCol="0" anchor="ctr"/>
          <a:lstStyle/>
          <a:p>
            <a:pPr algn="ctr"/>
            <a:r>
              <a:rPr sz="1500" b="1">
                <a:solidFill>
                  <a:srgbClr val="183D83"/>
                </a:solidFill>
                <a:latin typeface="Times New Roman" panose="02020603050405020304" charset="0"/>
                <a:cs typeface="Times New Roman" panose="02020603050405020304" charset="0"/>
              </a:rPr>
              <a:t>Ranked List</a:t>
            </a:r>
          </a:p>
          <a:p>
            <a:pPr algn="ctr">
              <a:defRPr sz="130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top-k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212080" cy="132588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46304" tIns="146304" rIns="146304" bIns="146304" rtlCol="0" anchor="ctr"/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Retrieval Metrics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  <a:latin typeface="Calibri" panose="020F0502020204030204"/>
              </a:defRPr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nDCG@5 — main reported metric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  <a:latin typeface="Calibri" panose="020F0502020204030204"/>
              </a:defRPr>
            </a:pP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Recall@K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  <a:latin typeface="Calibri" panose="020F0502020204030204"/>
              </a:defRPr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800600"/>
            <a:ext cx="5212080" cy="12344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46304" tIns="146304" rIns="146304" bIns="146304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Practical Requirements</a:t>
            </a:r>
          </a:p>
          <a:p>
            <a:pPr>
              <a:spcAft>
                <a:spcPts val="4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R1: strong retrieval performance</a:t>
            </a:r>
          </a:p>
          <a:p>
            <a:pPr>
              <a:spcAft>
                <a:spcPts val="4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R2: fast online querying</a:t>
            </a:r>
          </a:p>
          <a:p>
            <a:pPr>
              <a:spcAft>
                <a:spcPts val="400"/>
              </a:spcAft>
              <a:defRPr sz="1450" b="0">
                <a:solidFill>
                  <a:srgbClr val="000000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R3: high-throughput offline indexing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This design enables fair comparison across text-only pipelines, OCR/captioning systems, and visual retrievers.</a:t>
            </a:r>
          </a:p>
        </p:txBody>
      </p:sp>
      <p:cxnSp>
        <p:nvCxnSpPr>
          <p:cNvPr id="14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6" idx="3"/>
            <a:endCxn id="8" idx="1"/>
          </p:cNvCxnSpPr>
          <p:nvPr/>
        </p:nvCxnSpPr>
        <p:spPr>
          <a:xfrm>
            <a:off x="2651760" y="406908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3"/>
            <a:endCxn id="10" idx="1"/>
          </p:cNvCxnSpPr>
          <p:nvPr/>
        </p:nvCxnSpPr>
        <p:spPr>
          <a:xfrm>
            <a:off x="5897880" y="406908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47472"/>
            <a:ext cx="6313805" cy="49149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ViDoRe: Construction of Practical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32004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The practical tasks are designed to approximate real-world RAG retrieval settings.</a:t>
            </a:r>
          </a:p>
        </p:txBody>
      </p:sp>
      <p:cxnSp>
        <p:nvCxnSpPr>
          <p:cNvPr id="16" name="Connector 2"/>
          <p:cNvCxnSpPr/>
          <p:nvPr/>
        </p:nvCxnSpPr>
        <p:spPr>
          <a:xfrm>
            <a:off x="228600" y="914400"/>
            <a:ext cx="11750040" cy="0"/>
          </a:xfrm>
          <a:prstGeom prst="line">
            <a:avLst/>
          </a:prstGeom>
          <a:ln w="12700">
            <a:solidFill>
              <a:srgbClr val="326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02920" y="1742440"/>
            <a:ext cx="9163685" cy="297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Web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Crawling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Collect public PDFs using topic-specific searches</a:t>
            </a:r>
          </a:p>
          <a:p>
            <a:pPr indent="0" algn="l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PDF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Corpus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Documents from Energy, Government, Healthcare, and AI domains</a:t>
            </a:r>
          </a:p>
          <a:p>
            <a:pPr indent="0" algn="l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Page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Images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 each PDF into page-level visual inputs</a:t>
            </a:r>
            <a:endParaRPr lang="zh-CN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algn="l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VLM Query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Generation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Generate page-grounded Q/A pairs with a VLM</a:t>
            </a:r>
          </a:p>
          <a:p>
            <a:pPr indent="0" algn="l" fontAlgn="auto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Human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Validation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Filter queries for quality, relevance, and consistency</a:t>
            </a:r>
            <a:endParaRPr lang="zh-CN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2920" y="4903470"/>
            <a:ext cx="1098105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spcBef>
                <a:spcPts val="600"/>
              </a:spcBef>
              <a:spcAft>
                <a:spcPts val="600"/>
              </a:spcAft>
            </a:pPr>
            <a:r>
              <a:rPr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Making Retrieval Challenging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corpus is designed with domain-specific documents where candidate pages often share similar topics and vocabulary.This prevents retrieval from becoming a coarse-grained classification problem and requires fine-grained page-level matching.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56032"/>
            <a:ext cx="5254625" cy="47561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Results: Main Retrieval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50040" cy="13716"/>
          </a:xfrm>
          <a:prstGeom prst="rect">
            <a:avLst/>
          </a:prstGeom>
          <a:solidFill>
            <a:srgbClr val="4673FF"/>
          </a:solidFill>
          <a:ln>
            <a:solidFill>
              <a:srgbClr val="46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3657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Evaluation on ViDoRe (nDCG@5)</a:t>
            </a:r>
          </a:p>
        </p:txBody>
      </p:sp>
      <p:pic>
        <p:nvPicPr>
          <p:cNvPr id="5" name="Picture 4" descr="table2_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" y="1637030"/>
            <a:ext cx="8335645" cy="3824605"/>
          </a:xfrm>
          <a:prstGeom prst="rect">
            <a:avLst/>
          </a:prstGeom>
          <a:effectLst/>
        </p:spPr>
      </p:pic>
      <p:sp>
        <p:nvSpPr>
          <p:cNvPr id="6" name="Rounded Rectangle 5"/>
          <p:cNvSpPr/>
          <p:nvPr/>
        </p:nvSpPr>
        <p:spPr>
          <a:xfrm>
            <a:off x="8641080" y="1235710"/>
            <a:ext cx="2971800" cy="11430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164592" tIns="109728" rIns="109728" rtlCol="0" anchor="ctr"/>
          <a:lstStyle/>
          <a:p>
            <a:pPr algn="ctr"/>
            <a:r>
              <a:rPr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Best Overall</a:t>
            </a:r>
          </a:p>
          <a:p>
            <a:pPr>
              <a:spcBef>
                <a:spcPts val="400"/>
              </a:spcBef>
              <a:defRPr sz="1300">
                <a:solidFill>
                  <a:srgbClr val="000000"/>
                </a:solidFill>
                <a:latin typeface="Arial" panose="020B0604020202020204"/>
              </a:defRPr>
            </a:pPr>
            <a:r>
              <a:rPr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ColPali reaches 81.3 average nDCG@5 on ViDoRe.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2857500"/>
            <a:ext cx="2971800" cy="11430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164592" tIns="109728" rIns="109728" rtlCol="0" anchor="ctr"/>
          <a:lstStyle/>
          <a:p>
            <a:pPr algn="ctr"/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Strong Baselines</a:t>
            </a:r>
          </a:p>
          <a:p>
            <a:pPr>
              <a:spcBef>
                <a:spcPts val="400"/>
              </a:spcBef>
              <a:defRPr sz="1200">
                <a:solidFill>
                  <a:srgbClr val="000000"/>
                </a:solidFill>
                <a:latin typeface="Arial" panose="020B0604020202020204"/>
              </a:defRPr>
            </a:pPr>
            <a:r>
              <a:rPr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outperforms OCR and captioning-based retrieval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4479290"/>
            <a:ext cx="2971800" cy="12344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164592" tIns="109728" rIns="109728" rtlCol="0" anchor="ctr"/>
          <a:lstStyle/>
          <a:p>
            <a:pPr algn="ctr"/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Visual Tasks</a:t>
            </a:r>
          </a:p>
          <a:p>
            <a:pPr>
              <a:spcBef>
                <a:spcPts val="400"/>
              </a:spcBef>
              <a:defRPr sz="1200">
                <a:solidFill>
                  <a:srgbClr val="000000"/>
                </a:solidFill>
                <a:latin typeface="Arial" panose="020B0604020202020204"/>
              </a:defRPr>
            </a:pPr>
            <a:r>
              <a:rPr lang="zh-CN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ColPali shows particularly strong improvements on visually rich document tasks.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46888"/>
            <a:ext cx="114300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Results: Efficiency and Storage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850392"/>
            <a:ext cx="11841480" cy="137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56692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rIns="18288" anchor="t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Offline indexing latency</a:t>
            </a:r>
          </a:p>
        </p:txBody>
      </p:sp>
      <p:pic>
        <p:nvPicPr>
          <p:cNvPr id="5" name="Picture 4" descr="fig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2763"/>
            <a:ext cx="5760720" cy="115808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6629400" y="1234440"/>
            <a:ext cx="4343400" cy="8229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73152" r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Standard PDF Parser</a:t>
            </a:r>
            <a:br/>
            <a:r>
              <a:t>7.22 s /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331720"/>
            <a:ext cx="4343400" cy="8229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73152" r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ColPali</a:t>
            </a:r>
            <a:br/>
            <a:r>
              <a:t>0.39 s /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429000"/>
            <a:ext cx="4343400" cy="8229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73152" r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Query encoding</a:t>
            </a:r>
            <a:br/>
            <a:r>
              <a:t>≈ 30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rIns="18288" anchor="t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Storage cost and token pooling</a:t>
            </a:r>
          </a:p>
        </p:txBody>
      </p:sp>
      <p:pic>
        <p:nvPicPr>
          <p:cNvPr id="10" name="Picture 9" descr="figure3_poo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60520"/>
            <a:ext cx="3072384" cy="18288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197350" y="4526280"/>
            <a:ext cx="6583680" cy="12725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4864" rIns="36576">
            <a:no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dirty="0"/>
              <a:t>Raw </a:t>
            </a:r>
            <a:r>
              <a:rPr dirty="0" err="1"/>
              <a:t>ColPali</a:t>
            </a:r>
            <a:r>
              <a:rPr dirty="0"/>
              <a:t> index: 257.5 KB per page.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 panose="02020603050405020304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 panose="02020603050405020304"/>
              </a:defRPr>
            </a:pPr>
            <a:r>
              <a:rPr dirty="0"/>
              <a:t>Pooling factor 3 reduces stored vectors by 66.7%.It retains 97.8% of the original retrieval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320040"/>
            <a:ext cx="1577340" cy="3835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altLang="zh-CN" sz="2600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charset="0"/>
              </a:rPr>
              <a:t>Conclusion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1480" y="989965"/>
            <a:ext cx="93218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Problem Reframing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Visually rich document retrieval should not be treated simply as text retrieval after OCR.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Tables, figures, layouts, and other visual elements may directly determine document relevance.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1480" y="2296160"/>
            <a:ext cx="103289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ViDoRe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ViDoRe establishes a dedicated page-level benchmark for visual document retrieval, covering multiple modalities, domains, languages, and practical retrieval settings.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1480" y="3716655"/>
            <a:ext cx="866203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ColPali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ColPali retrieves document pages directly in the visual space. It represents each page using multiple token-level embeddings and applies late interaction for fine-grained query–page matching.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1480" y="5311140"/>
            <a:ext cx="88995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Main Findings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Experiments on ViDoRe show that ColPali substantially outperforms traditional OCR and captioning-based retrieval pipelines while simplifying the offline document indexing process.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320040"/>
            <a:ext cx="1880235" cy="3835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altLang="zh-CN" sz="2600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charset="0"/>
              </a:rPr>
              <a:t>Future Work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1480" y="1257300"/>
            <a:ext cx="94240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Visual Retrieval + Visual Question Answering</a:t>
            </a: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Future systems may combine visual retrieval with downstream visual question answering, enabling fully image-based Retrieval-Augmented Generation pipelines.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1480" y="2749550"/>
            <a:ext cx="93427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Confidence Estimation and Abstention</a:t>
            </a: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Retrieval systems should estimate confidence and abstain when relevant information is not available, improving reliability in practical applications.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1480" y="4333240"/>
            <a:ext cx="96710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More Languages, Modalities, and Tasks</a:t>
            </a: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Extending evaluation to additional languages, document types, modalities, and retrieval tasks would provide a more comprehensive assessment of visual document retrieval systems.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4048" y="331470"/>
            <a:ext cx="6858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altLang="zh-CN" sz="2400" b="1" kern="0" spc="1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Limitations &amp; Discussion</a:t>
            </a:r>
            <a:endParaRPr lang="en-US" altLang="zh-CN" sz="2665" b="1" kern="0" spc="1" dirty="0">
              <a:solidFill>
                <a:srgbClr val="000000"/>
              </a:solidFill>
              <a:latin typeface="Times New Roman" panose="0202060305040502030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885" y="961390"/>
            <a:ext cx="10476230" cy="18942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Times New Roman" panose="02020603050405020304"/>
              </a:rPr>
              <a:t>ViDoRe Benchmark</a:t>
            </a: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/>
              </a:rPr>
              <a:t>Limited scale and evaluation scope</a:t>
            </a:r>
            <a:endParaRPr lang="en-US" altLang="zh-CN" b="1">
              <a:solidFill>
                <a:srgbClr val="000000"/>
              </a:solidFill>
              <a:latin typeface="Times New Roman" panose="02020603050405020304"/>
            </a:endParaRP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/>
              </a:rPr>
              <a:t>Although ViDoRe provides a systematic evaluation framework for visual document retrieval, its current scale and language coverage are still relatively limited compared with real-world document collections.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885" y="3139440"/>
            <a:ext cx="10476865" cy="33235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Times New Roman" panose="02020603050405020304"/>
              </a:rPr>
              <a:t>ColPali Method</a:t>
            </a: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Times New Roman" panose="02020603050405020304"/>
              </a:rPr>
              <a:t>M</a:t>
            </a:r>
            <a:r>
              <a:rPr sz="2000" b="1">
                <a:solidFill>
                  <a:srgbClr val="000000"/>
                </a:solidFill>
                <a:latin typeface="Times New Roman" panose="02020603050405020304"/>
              </a:rPr>
              <a:t>ulti-vector storage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/>
              </a:rPr>
              <a:t>Overhead</a:t>
            </a:r>
            <a:endParaRPr lang="en-US" altLang="zh-CN" b="1">
              <a:solidFill>
                <a:srgbClr val="000000"/>
              </a:solidFill>
              <a:latin typeface="Times New Roman" panose="02020603050405020304"/>
            </a:endParaRP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/>
              </a:rPr>
              <a:t>ColPali represents each page with hundreds of token-level vectors instead of a single dense embedding. This improves fine-grained matching but significantly increases index storage requirements.Vector compression and efficient indexing strategies are required for large-scale deployment.</a:t>
            </a: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</a:t>
            </a:r>
            <a:r>
              <a:rPr lang="en-US" altLang="zh-CN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Page-level Representation Limitation</a:t>
            </a: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ColPali avoids text chunking by directly encoding rendered pages, but the retrieval unit is still limited to a single page.Information spanning multiple pages, such as cross-page figures or tables, may be fragmented into different page embeddings, making document-level reasoning challenging.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45915" y="2993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>
                <a:latin typeface="Times New Roman" panose="02020603050405020304" charset="0"/>
                <a:cs typeface="Times New Roman" panose="02020603050405020304" charset="0"/>
              </a:rPr>
              <a:t>Thanks</a:t>
            </a:r>
            <a:r>
              <a:rPr lang="zh-CN" altLang="en-US" sz="6000" b="1">
                <a:latin typeface="Times New Roman" panose="02020603050405020304" charset="0"/>
                <a:cs typeface="Times New Roman" panose="02020603050405020304" charset="0"/>
              </a:rPr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2231</Words>
  <Application>Microsoft Office PowerPoint</Application>
  <PresentationFormat>宽屏</PresentationFormat>
  <Paragraphs>229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Wingdings</vt:lpstr>
      <vt:lpstr>WPS</vt:lpstr>
      <vt:lpstr>ColPali: Efficient Document Retrieval with Vision Language Models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qh huang</cp:lastModifiedBy>
  <cp:revision>594</cp:revision>
  <dcterms:created xsi:type="dcterms:W3CDTF">2023-08-09T12:44:00Z</dcterms:created>
  <dcterms:modified xsi:type="dcterms:W3CDTF">2026-10-14T14:39:25Z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41887D36BDC64374951164C2D293D643_12</vt:lpwstr>
  </property>
</Properties>
</file>