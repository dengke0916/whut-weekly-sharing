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7"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7"/>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Welcome everyone. Today I will present a paper published at AAAI 2025 titled "Enriching Multimodal Sentiment Analysis Through Textual Emotional Descriptions of Visual-Audio Content." The proposed method is called DEVA. I will walk through its motivation, method, experiments, and conclusions.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talk is organized into ten parts. We start from the background of multimodal sentiment analysis, then explain the motivation and the proposed DEVA framework, walk through its key modules, and finally present the experimental results and conclusion.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Multimodal Sentiment Analysis combines text, audio, and video cues to read a speaker's emotion. Modern systems typically encode each modality separately and then fuse them with attention-based transformers. Despite strong results, the authors observe a blind spot: fine-grained emotional changes inside a short video are hard to capture.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authors point out that raw audio and video features of adjacent segments look almost identical, while the human label differs. The missing signal is the micro-expression itself. A short textual description of the facial action and the prosody makes this micro-signal explicit to the model, narrowing the gap between modalities.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core idea is simple: make the non-verbal streams speak. EDG converts audio prosody and facial action units into short English descriptions, which are then fused with the raw features. TPF then uses the text stream as the anchor to progressively guide audio and visual fusion. The authors report new state-of-the-art results on three standard MSA benchmarks.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pipeline has five stages. First, each modality is encoded separately. Second, EDG produces textual emotional descriptions from audio and vision. Third, these descriptions are fused back with the raw features to enhance them. Fourth, TPF progressively fuses the minor modalities under the guidance of text. Finally, a cross-modal Transformer produces the sentiment prediction.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EDG has two halves. For audio, OpenSMILE gives four prosodic cues that are discretized into three levels and plugged into a sentence template. For vision, OpenFace detects 16 action units; the top-k most frequent ones are described in plain English. Both descriptions are then embedded with BERT and treated as extra textual views.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TPF is the heart of DEVA. Instead of fusing all modalities symmetrically, it treats text as the anchor. Each layer first lets audio and vision attend to the current text state, then lets text attend back to the refined audio and vision. This progressive exchange narrows the distribution gap between the core and minor modalities.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authors evaluate on three standard MSA benchmarks: MOSI and MOSEI in English, and CH-SIMS in Chinese, which is known to be harder because it contains more diverse, fine-grained expressions. They report both classification accuracy and regression metrics, and compare against a strong set of recent baselines.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These are DEVA's headline numbers. Bold entries are the best reported in the paper. The gains are consistent across English and Chinese datasets, and they are largest on CH-SIMS, where fine-grained distinctions matter most. This supports the authors' claim that emotional descriptions help with subtle sentiment changes.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ablations support the design choices: both audio and visual descriptions matter, and the progressive fusion unit is the single most important component. The fine-grained study on MOSI is particularly telling: DEVA improves the most on the extreme polarity bins, which are exactly the cases where raw features look similar but the human label differs.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summarize: DEVA shows that translating audio and visual emotional cues into text, then using text as the anchor for progressive fusion, is an effective and robust recipe for multimodal sentiment analysis. The authors plan to make the generated descriptions more natural and human-like. That ends my presentation — happy to take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1778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0000"/>
                </a:solidFill>
                <a:latin typeface="Inter"/>
                <a:ea typeface="Inter"/>
                <a:cs typeface="Inter"/>
                <a:sym typeface="Inter"/>
              </a:rPr>
              <a:t>AAAI 2025 · Group Paper Discussion</a:t>
            </a:r>
            <a:endParaRPr lang="en-US" sz="1100"/>
          </a:p>
        </p:txBody>
      </p:sp>
      <p:sp>
        <p:nvSpPr>
          <p:cNvPr id="3" name="AutoShape 3"/>
          <p:cNvSpPr txBox="1"/>
          <p:nvPr/>
        </p:nvSpPr>
        <p:spPr>
          <a:xfrm>
            <a:off x="1016000" y="2413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rgbClr val="000000"/>
                </a:solidFill>
                <a:latin typeface="Inter"/>
                <a:ea typeface="Inter"/>
                <a:cs typeface="Inter"/>
                <a:sym typeface="Inter"/>
              </a:rPr>
              <a:t>Enriching Multimodal Sentiment Analysis</a:t>
            </a:r>
            <a:endParaRPr lang="en-US" sz="1100"/>
          </a:p>
          <a:p>
            <a:pPr marL="0" indent="0" algn="l">
              <a:lnSpc>
                <a:spcPct val="108000"/>
              </a:lnSpc>
            </a:pPr>
            <a:r>
              <a:rPr lang="en-US" sz="3200" b="1" i="0" u="none" strike="noStrike">
                <a:solidFill>
                  <a:srgbClr val="000000"/>
                </a:solidFill>
                <a:latin typeface="Inter"/>
                <a:ea typeface="Inter"/>
                <a:cs typeface="Inter"/>
                <a:sym typeface="Inter"/>
              </a:rPr>
              <a:t>Through Textual Emotional Descriptions</a:t>
            </a:r>
            <a:endParaRPr lang="en-US" sz="3200" b="1" i="0" u="none" strike="noStrike">
              <a:solidFill>
                <a:srgbClr val="000000"/>
              </a:solidFill>
              <a:latin typeface="Inter"/>
              <a:ea typeface="Inter"/>
              <a:cs typeface="Inter"/>
              <a:sym typeface="Inter"/>
            </a:endParaRPr>
          </a:p>
          <a:p>
            <a:pPr marL="0" indent="0" algn="l">
              <a:lnSpc>
                <a:spcPct val="108000"/>
              </a:lnSpc>
            </a:pPr>
            <a:r>
              <a:rPr lang="en-US" sz="3200" b="1" i="0" u="none" strike="noStrike">
                <a:solidFill>
                  <a:srgbClr val="000000"/>
                </a:solidFill>
                <a:latin typeface="Inter"/>
                <a:ea typeface="Inter"/>
                <a:cs typeface="Inter"/>
                <a:sym typeface="Inter"/>
              </a:rPr>
              <a:t>of Visual-Audio Content</a:t>
            </a:r>
            <a:endParaRPr lang="en-US" sz="3200" b="1" i="0" u="none" strike="noStrike">
              <a:solidFill>
                <a:srgbClr val="000000"/>
              </a:solidFill>
              <a:latin typeface="Inter"/>
              <a:ea typeface="Inter"/>
              <a:cs typeface="Inter"/>
              <a:sym typeface="Inter"/>
            </a:endParaRPr>
          </a:p>
        </p:txBody>
      </p:sp>
      <p:cxnSp>
        <p:nvCxnSpPr>
          <p:cNvPr id="4" name="Connector 4"/>
          <p:cNvCxnSpPr/>
          <p:nvPr/>
        </p:nvCxnSpPr>
        <p:spPr>
          <a:xfrm rot="-17188">
            <a:off x="1016016" y="4311650"/>
            <a:ext cx="254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5" name="AutoShape 5"/>
          <p:cNvSpPr txBox="1"/>
          <p:nvPr/>
        </p:nvSpPr>
        <p:spPr>
          <a:xfrm>
            <a:off x="1016000" y="4572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000000"/>
                </a:solidFill>
                <a:latin typeface="Inter"/>
                <a:ea typeface="Inter"/>
                <a:cs typeface="Inter"/>
                <a:sym typeface="Inter"/>
              </a:rPr>
              <a:t>Sheng Wu, Dongxiao He, Xiaobao Wang, Longbiao Wang, Jianwu Dang</a:t>
            </a:r>
            <a:endParaRPr lang="en-US" sz="1100"/>
          </a:p>
          <a:p>
            <a:pPr marL="0" indent="0" algn="l">
              <a:lnSpc>
                <a:spcPct val="133000"/>
              </a:lnSpc>
            </a:pPr>
            <a:r>
              <a:rPr lang="en-US" sz="1400" b="0" i="0" u="none" strike="noStrike">
                <a:solidFill>
                  <a:srgbClr val="000000"/>
                </a:solidFill>
                <a:latin typeface="Inter"/>
                <a:ea typeface="Inter"/>
                <a:cs typeface="Inter"/>
                <a:sym typeface="Inter"/>
              </a:rPr>
              <a:t>Tianjin University · Shenzhen Institutes of Advanced Technology, CAS</a:t>
            </a:r>
            <a:endParaRPr lang="en-US" sz="1400" b="0" i="0" u="none" strike="noStrike">
              <a:solidFill>
                <a:srgbClr val="000000"/>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Outline</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524000" y="1905000"/>
            <a:ext cx="4318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600" b="0" i="0" u="none" strike="noStrike">
                <a:solidFill>
                  <a:srgbClr val="000000"/>
                </a:solidFill>
                <a:latin typeface="Inter"/>
                <a:ea typeface="Inter"/>
                <a:cs typeface="Inter"/>
                <a:sym typeface="Inter"/>
              </a:rPr>
              <a:t>1. Background: Multimodal Sentiment Analysis</a:t>
            </a:r>
            <a:endParaRPr lang="en-US" sz="1100"/>
          </a:p>
          <a:p>
            <a:pPr marL="0" indent="0" algn="l">
              <a:lnSpc>
                <a:spcPct val="167000"/>
              </a:lnSpc>
            </a:pPr>
            <a:r>
              <a:rPr lang="en-US" sz="1600" b="0" i="0" u="none" strike="noStrike">
                <a:solidFill>
                  <a:srgbClr val="000000"/>
                </a:solidFill>
                <a:latin typeface="Inter"/>
                <a:ea typeface="Inter"/>
                <a:cs typeface="Inter"/>
                <a:sym typeface="Inter"/>
              </a:rPr>
              <a:t>2. Motivation: Fine-grained emotional drift</a:t>
            </a:r>
            <a:endParaRPr lang="en-US" sz="1600" b="0" i="0" u="none" strike="noStrike">
              <a:solidFill>
                <a:srgbClr val="000000"/>
              </a:solidFill>
              <a:latin typeface="Inter"/>
              <a:ea typeface="Inter"/>
              <a:cs typeface="Inter"/>
              <a:sym typeface="Inter"/>
            </a:endParaRPr>
          </a:p>
          <a:p>
            <a:pPr marL="0" indent="0" algn="l">
              <a:lnSpc>
                <a:spcPct val="167000"/>
              </a:lnSpc>
            </a:pPr>
            <a:r>
              <a:rPr lang="en-US" sz="1600" b="0" i="0" u="none" strike="noStrike">
                <a:solidFill>
                  <a:srgbClr val="000000"/>
                </a:solidFill>
                <a:latin typeface="Inter"/>
                <a:ea typeface="Inter"/>
                <a:cs typeface="Inter"/>
                <a:sym typeface="Inter"/>
              </a:rPr>
              <a:t>3. Key idea and contributions</a:t>
            </a:r>
            <a:endParaRPr lang="en-US" sz="1600" b="0" i="0" u="none" strike="noStrike">
              <a:solidFill>
                <a:srgbClr val="000000"/>
              </a:solidFill>
              <a:latin typeface="Inter"/>
              <a:ea typeface="Inter"/>
              <a:cs typeface="Inter"/>
              <a:sym typeface="Inter"/>
            </a:endParaRPr>
          </a:p>
          <a:p>
            <a:pPr marL="0" indent="0" algn="l">
              <a:lnSpc>
                <a:spcPct val="167000"/>
              </a:lnSpc>
            </a:pPr>
            <a:r>
              <a:rPr lang="en-US" sz="1600" b="0" i="0" u="none" strike="noStrike">
                <a:solidFill>
                  <a:srgbClr val="000000"/>
                </a:solidFill>
                <a:latin typeface="Inter"/>
                <a:ea typeface="Inter"/>
                <a:cs typeface="Inter"/>
                <a:sym typeface="Inter"/>
              </a:rPr>
              <a:t>4. DEVA architecture overview</a:t>
            </a:r>
            <a:endParaRPr lang="en-US" sz="1600" b="0" i="0" u="none" strike="noStrike">
              <a:solidFill>
                <a:srgbClr val="000000"/>
              </a:solidFill>
              <a:latin typeface="Inter"/>
              <a:ea typeface="Inter"/>
              <a:cs typeface="Inter"/>
              <a:sym typeface="Inter"/>
            </a:endParaRPr>
          </a:p>
          <a:p>
            <a:pPr marL="0" indent="0" algn="l">
              <a:lnSpc>
                <a:spcPct val="167000"/>
              </a:lnSpc>
            </a:pPr>
            <a:r>
              <a:rPr lang="en-US" sz="1600" b="0" i="0" u="none" strike="noStrike">
                <a:solidFill>
                  <a:srgbClr val="000000"/>
                </a:solidFill>
                <a:latin typeface="Inter"/>
                <a:ea typeface="Inter"/>
                <a:cs typeface="Inter"/>
                <a:sym typeface="Inter"/>
              </a:rPr>
              <a:t>5. Emotional Description Generator</a:t>
            </a:r>
            <a:endParaRPr lang="en-US" sz="1600" b="0" i="0" u="none" strike="noStrike">
              <a:solidFill>
                <a:srgbClr val="000000"/>
              </a:solidFill>
              <a:latin typeface="Inter"/>
              <a:ea typeface="Inter"/>
              <a:cs typeface="Inter"/>
              <a:sym typeface="Inter"/>
            </a:endParaRPr>
          </a:p>
        </p:txBody>
      </p:sp>
      <p:sp>
        <p:nvSpPr>
          <p:cNvPr id="5" name="AutoShape 5"/>
          <p:cNvSpPr txBox="1"/>
          <p:nvPr/>
        </p:nvSpPr>
        <p:spPr>
          <a:xfrm>
            <a:off x="6350000" y="1905000"/>
            <a:ext cx="4826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600" b="0" i="0" u="none" strike="noStrike">
                <a:solidFill>
                  <a:srgbClr val="000000"/>
                </a:solidFill>
                <a:latin typeface="Inter"/>
                <a:ea typeface="Inter"/>
                <a:cs typeface="Inter"/>
                <a:sym typeface="Inter"/>
              </a:rPr>
              <a:t>6. Text-Guided Progressive Fusion</a:t>
            </a:r>
            <a:endParaRPr lang="en-US" sz="1100"/>
          </a:p>
          <a:p>
            <a:pPr marL="0" indent="0" algn="l">
              <a:lnSpc>
                <a:spcPct val="167000"/>
              </a:lnSpc>
            </a:pPr>
            <a:r>
              <a:rPr lang="en-US" sz="1600" b="0" i="0" u="none" strike="noStrike">
                <a:solidFill>
                  <a:srgbClr val="000000"/>
                </a:solidFill>
                <a:latin typeface="Inter"/>
                <a:ea typeface="Inter"/>
                <a:cs typeface="Inter"/>
                <a:sym typeface="Inter"/>
              </a:rPr>
              <a:t>7. Datasets and evaluation setup</a:t>
            </a:r>
            <a:endParaRPr lang="en-US" sz="1600" b="0" i="0" u="none" strike="noStrike">
              <a:solidFill>
                <a:srgbClr val="000000"/>
              </a:solidFill>
              <a:latin typeface="Inter"/>
              <a:ea typeface="Inter"/>
              <a:cs typeface="Inter"/>
              <a:sym typeface="Inter"/>
            </a:endParaRPr>
          </a:p>
          <a:p>
            <a:pPr marL="0" indent="0" algn="l">
              <a:lnSpc>
                <a:spcPct val="167000"/>
              </a:lnSpc>
            </a:pPr>
            <a:r>
              <a:rPr lang="en-US" sz="1600" b="0" i="0" u="none" strike="noStrike">
                <a:solidFill>
                  <a:srgbClr val="000000"/>
                </a:solidFill>
                <a:latin typeface="Inter"/>
                <a:ea typeface="Inter"/>
                <a:cs typeface="Inter"/>
                <a:sym typeface="Inter"/>
              </a:rPr>
              <a:t>8. Main results</a:t>
            </a:r>
            <a:endParaRPr lang="en-US" sz="1600" b="0" i="0" u="none" strike="noStrike">
              <a:solidFill>
                <a:srgbClr val="000000"/>
              </a:solidFill>
              <a:latin typeface="Inter"/>
              <a:ea typeface="Inter"/>
              <a:cs typeface="Inter"/>
              <a:sym typeface="Inter"/>
            </a:endParaRPr>
          </a:p>
          <a:p>
            <a:pPr marL="0" indent="0" algn="l">
              <a:lnSpc>
                <a:spcPct val="167000"/>
              </a:lnSpc>
            </a:pPr>
            <a:r>
              <a:rPr lang="en-US" sz="1600" b="0" i="0" u="none" strike="noStrike">
                <a:solidFill>
                  <a:srgbClr val="000000"/>
                </a:solidFill>
                <a:latin typeface="Inter"/>
                <a:ea typeface="Inter"/>
                <a:cs typeface="Inter"/>
                <a:sym typeface="Inter"/>
              </a:rPr>
              <a:t>9. Ablation and fine-grained study</a:t>
            </a:r>
            <a:endParaRPr lang="en-US" sz="1600" b="0" i="0" u="none" strike="noStrike">
              <a:solidFill>
                <a:srgbClr val="000000"/>
              </a:solidFill>
              <a:latin typeface="Inter"/>
              <a:ea typeface="Inter"/>
              <a:cs typeface="Inter"/>
              <a:sym typeface="Inter"/>
            </a:endParaRPr>
          </a:p>
          <a:p>
            <a:pPr marL="0" indent="0" algn="l">
              <a:lnSpc>
                <a:spcPct val="167000"/>
              </a:lnSpc>
            </a:pPr>
            <a:r>
              <a:rPr lang="en-US" sz="1600" b="0" i="0" u="none" strike="noStrike">
                <a:solidFill>
                  <a:srgbClr val="000000"/>
                </a:solidFill>
                <a:latin typeface="Inter"/>
                <a:ea typeface="Inter"/>
                <a:cs typeface="Inter"/>
                <a:sym typeface="Inter"/>
              </a:rPr>
              <a:t>10. Conclusion and future work</a:t>
            </a:r>
            <a:endParaRPr lang="en-US" sz="1600" b="0" i="0" u="none" strike="noStrike">
              <a:solidFill>
                <a:srgbClr val="00000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Background: Multimodal Sentiment Analysis</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016000" y="1778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000000"/>
                </a:solidFill>
                <a:latin typeface="Inter"/>
                <a:ea typeface="Inter"/>
                <a:cs typeface="Inter"/>
                <a:sym typeface="Inter"/>
              </a:rPr>
              <a:t>MSA aims to identify a speaker's sentiment by jointly modeling three parallel streams: text transcript, audio, and visual (facial) signals. It has broad applications in social media analysis, human-computer interaction, and healthcare.</a:t>
            </a:r>
            <a:endParaRPr lang="en-US" sz="1100"/>
          </a:p>
        </p:txBody>
      </p:sp>
      <p:sp>
        <p:nvSpPr>
          <p:cNvPr id="5" name="AutoShape 5"/>
          <p:cNvSpPr txBox="1"/>
          <p:nvPr/>
        </p:nvSpPr>
        <p:spPr>
          <a:xfrm>
            <a:off x="1016000" y="31623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1" i="0" u="none" strike="noStrike">
                <a:solidFill>
                  <a:srgbClr val="000000"/>
                </a:solidFill>
                <a:latin typeface="Inter"/>
                <a:ea typeface="Inter"/>
                <a:cs typeface="Inter"/>
                <a:sym typeface="Inter"/>
              </a:rPr>
              <a:t>Typical pipeline</a:t>
            </a:r>
            <a:endParaRPr lang="en-US" sz="1100"/>
          </a:p>
          <a:p>
            <a:pPr marL="0" indent="0" algn="l">
              <a:lnSpc>
                <a:spcPct val="150000"/>
              </a:lnSpc>
            </a:pPr>
            <a:r>
              <a:rPr lang="en-US" sz="1500" b="0" i="0" u="none" strike="noStrike">
                <a:solidFill>
                  <a:srgbClr val="000000"/>
                </a:solidFill>
                <a:latin typeface="Inter"/>
                <a:ea typeface="Inter"/>
                <a:cs typeface="Inter"/>
                <a:sym typeface="Inter"/>
              </a:rPr>
              <a:t>· Unimodal encoders: BERT for text, Librosa / OpenSMILE for audio, OpenFace for vision</a:t>
            </a:r>
            <a:endParaRPr lang="en-US" sz="1500" b="0" i="0" u="none" strike="noStrike">
              <a:solidFill>
                <a:srgbClr val="000000"/>
              </a:solidFill>
              <a:latin typeface="Inter"/>
              <a:ea typeface="Inter"/>
              <a:cs typeface="Inter"/>
              <a:sym typeface="Inter"/>
            </a:endParaRPr>
          </a:p>
          <a:p>
            <a:pPr marL="0" indent="0" algn="l">
              <a:lnSpc>
                <a:spcPct val="150000"/>
              </a:lnSpc>
            </a:pPr>
            <a:r>
              <a:rPr lang="en-US" sz="1500" b="0" i="0" u="none" strike="noStrike">
                <a:solidFill>
                  <a:srgbClr val="000000"/>
                </a:solidFill>
                <a:latin typeface="Inter"/>
                <a:ea typeface="Inter"/>
                <a:cs typeface="Inter"/>
                <a:sym typeface="Inter"/>
              </a:rPr>
              <a:t>· Fusion: early concatenation, tensor fusion, or cross-modal transformers (MISA, MulT, etc.)</a:t>
            </a:r>
            <a:endParaRPr lang="en-US" sz="1500" b="0" i="0" u="none" strike="noStrike">
              <a:solidFill>
                <a:srgbClr val="000000"/>
              </a:solidFill>
              <a:latin typeface="Inter"/>
              <a:ea typeface="Inter"/>
              <a:cs typeface="Inter"/>
              <a:sym typeface="Inter"/>
            </a:endParaRPr>
          </a:p>
          <a:p>
            <a:pPr marL="0" indent="0" algn="l">
              <a:lnSpc>
                <a:spcPct val="150000"/>
              </a:lnSpc>
            </a:pPr>
            <a:r>
              <a:rPr lang="en-US" sz="1500" b="0" i="0" u="none" strike="noStrike">
                <a:solidFill>
                  <a:srgbClr val="000000"/>
                </a:solidFill>
                <a:latin typeface="Inter"/>
                <a:ea typeface="Inter"/>
                <a:cs typeface="Inter"/>
                <a:sym typeface="Inter"/>
              </a:rPr>
              <a:t>· Output: sentiment class (negative / neutral / positive) or a continuous regression score</a:t>
            </a:r>
            <a:endParaRPr lang="en-US" sz="1500" b="0" i="0" u="none" strike="noStrike">
              <a:solidFill>
                <a:srgbClr val="000000"/>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7620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0000"/>
                </a:solidFill>
                <a:latin typeface="Inter"/>
                <a:ea typeface="Inter"/>
                <a:cs typeface="Inter"/>
                <a:sym typeface="Inter"/>
              </a:rPr>
              <a:t>Motivation: Fine-grained Emotional Drift Is Hard to Catch</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016000" y="1778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000000"/>
                </a:solidFill>
                <a:latin typeface="Inter"/>
                <a:ea typeface="Inter"/>
                <a:cs typeface="Inter"/>
                <a:sym typeface="Inter"/>
              </a:rPr>
              <a:t>Two adjacent segments may carry very similar transcript, pitch, and facial action units (AUs), yet the labeled sentiment can flip between negative and positive. Relying on raw features alone, the model cannot tell them apart.</a:t>
            </a:r>
            <a:endParaRPr lang="en-US" sz="1100"/>
          </a:p>
        </p:txBody>
      </p:sp>
      <p:sp>
        <p:nvSpPr>
          <p:cNvPr id="5" name="AutoShape 5"/>
          <p:cNvSpPr txBox="1"/>
          <p:nvPr/>
        </p:nvSpPr>
        <p:spPr>
          <a:xfrm>
            <a:off x="1016000" y="3556000"/>
            <a:ext cx="5840730" cy="228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1" i="0" u="none" strike="noStrike">
                <a:solidFill>
                  <a:srgbClr val="000000"/>
                </a:solidFill>
                <a:latin typeface="Inter"/>
                <a:ea typeface="Inter"/>
                <a:cs typeface="Inter"/>
                <a:sym typeface="Inter"/>
              </a:rPr>
              <a:t>Example from the paper (Figure 1)</a:t>
            </a:r>
            <a:endParaRPr lang="en-US" sz="1100"/>
          </a:p>
          <a:p>
            <a:pPr marL="0" indent="0" algn="l">
              <a:lnSpc>
                <a:spcPct val="150000"/>
              </a:lnSpc>
            </a:pPr>
            <a:r>
              <a:rPr lang="en-US" sz="1500" b="0" i="0" u="none" strike="noStrike">
                <a:solidFill>
                  <a:srgbClr val="000000"/>
                </a:solidFill>
                <a:latin typeface="Inter"/>
                <a:ea typeface="Inter"/>
                <a:cs typeface="Inter"/>
                <a:sym typeface="Inter"/>
              </a:rPr>
              <a:t>· Segment 1: speaker says "I really was disappointed." → Sentiment 1.4 (more negative)</a:t>
            </a:r>
            <a:endParaRPr lang="en-US" sz="1500" b="0" i="0" u="none" strike="noStrike">
              <a:solidFill>
                <a:srgbClr val="000000"/>
              </a:solidFill>
              <a:latin typeface="Inter"/>
              <a:ea typeface="Inter"/>
              <a:cs typeface="Inter"/>
              <a:sym typeface="Inter"/>
            </a:endParaRPr>
          </a:p>
          <a:p>
            <a:pPr marL="0" indent="0" algn="l">
              <a:lnSpc>
                <a:spcPct val="150000"/>
              </a:lnSpc>
            </a:pPr>
            <a:r>
              <a:rPr lang="en-US" sz="1500" b="0" i="0" u="none" strike="noStrike">
                <a:solidFill>
                  <a:srgbClr val="000000"/>
                </a:solidFill>
                <a:latin typeface="Inter"/>
                <a:ea typeface="Inter"/>
                <a:cs typeface="Inter"/>
                <a:sym typeface="Inter"/>
              </a:rPr>
              <a:t>· Segment 2: similar transcript, brow raised, lip tightened → Sentiment 2.0 (more positive)</a:t>
            </a:r>
            <a:endParaRPr lang="en-US" sz="1500" b="0" i="0" u="none" strike="noStrike">
              <a:solidFill>
                <a:srgbClr val="000000"/>
              </a:solidFill>
              <a:latin typeface="Inter"/>
              <a:ea typeface="Inter"/>
              <a:cs typeface="Inter"/>
              <a:sym typeface="Inter"/>
            </a:endParaRPr>
          </a:p>
          <a:p>
            <a:pPr marL="0" indent="0" algn="l">
              <a:lnSpc>
                <a:spcPct val="150000"/>
              </a:lnSpc>
            </a:pPr>
            <a:r>
              <a:rPr lang="en-US" sz="1500" b="0" i="0" u="none" strike="noStrike">
                <a:solidFill>
                  <a:srgbClr val="000000"/>
                </a:solidFill>
                <a:latin typeface="Inter"/>
                <a:ea typeface="Inter"/>
                <a:cs typeface="Inter"/>
                <a:sym typeface="Inter"/>
              </a:rPr>
              <a:t>· Text description "raise inner brow, raise outer brow" makes the micro-expression explicit to the model.</a:t>
            </a:r>
            <a:endParaRPr lang="en-US" sz="1500" b="0" i="0" u="none" strike="noStrike">
              <a:solidFill>
                <a:srgbClr val="000000"/>
              </a:solidFill>
              <a:latin typeface="Inter"/>
              <a:ea typeface="Inter"/>
              <a:cs typeface="Inter"/>
              <a:sym typeface="Inter"/>
            </a:endParaRPr>
          </a:p>
        </p:txBody>
      </p:sp>
      <p:pic>
        <p:nvPicPr>
          <p:cNvPr id="6" name="图片 5"/>
          <p:cNvPicPr>
            <a:picLocks noChangeAspect="1"/>
          </p:cNvPicPr>
          <p:nvPr/>
        </p:nvPicPr>
        <p:blipFill>
          <a:blip r:embed="rId1"/>
          <a:stretch>
            <a:fillRect/>
          </a:stretch>
        </p:blipFill>
        <p:spPr>
          <a:xfrm>
            <a:off x="7065645" y="3031490"/>
            <a:ext cx="4822190" cy="2810510"/>
          </a:xfrm>
          <a:prstGeom prst="rect">
            <a:avLst/>
          </a:prstGeom>
        </p:spPr>
      </p:pic>
      <p:sp>
        <p:nvSpPr>
          <p:cNvPr id="7" name="文本框 6"/>
          <p:cNvSpPr txBox="1"/>
          <p:nvPr/>
        </p:nvSpPr>
        <p:spPr>
          <a:xfrm>
            <a:off x="8531860" y="6047105"/>
            <a:ext cx="4064000" cy="306705"/>
          </a:xfrm>
          <a:prstGeom prst="rect">
            <a:avLst/>
          </a:prstGeom>
          <a:noFill/>
        </p:spPr>
        <p:txBody>
          <a:bodyPr wrap="square" rtlCol="0">
            <a:spAutoFit/>
          </a:bodyPr>
          <a:p>
            <a:r>
              <a:rPr lang="en-US" b="1">
                <a:latin typeface="Inter"/>
                <a:ea typeface="Inter"/>
                <a:cs typeface="Inter"/>
                <a:sym typeface="Inter"/>
              </a:rPr>
              <a:t>Figure 1</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Key Idea and Contributions</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016000" y="177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1" i="0" u="none" strike="noStrike">
                <a:solidFill>
                  <a:srgbClr val="000000"/>
                </a:solidFill>
                <a:latin typeface="Inter"/>
                <a:ea typeface="Inter"/>
                <a:cs typeface="Inter"/>
                <a:sym typeface="Inter"/>
              </a:rPr>
              <a:t>DEVA</a:t>
            </a:r>
            <a:r>
              <a:rPr lang="en-US" sz="1500" b="0" i="0" u="none" strike="noStrike">
                <a:solidFill>
                  <a:srgbClr val="000000"/>
                </a:solidFill>
                <a:latin typeface="Inter"/>
                <a:ea typeface="Inter"/>
                <a:cs typeface="Inter"/>
                <a:sym typeface="Inter"/>
              </a:rPr>
              <a:t> — an Emotional Description Progressive Framework that converts audio and visual signals into textual emotional descriptions, and uses text as the guide to progressively fuse the minor modalities.</a:t>
            </a:r>
            <a:endParaRPr lang="en-US" sz="1100"/>
          </a:p>
        </p:txBody>
      </p:sp>
      <p:sp>
        <p:nvSpPr>
          <p:cNvPr id="5" name="AutoShape 5"/>
          <p:cNvSpPr txBox="1"/>
          <p:nvPr/>
        </p:nvSpPr>
        <p:spPr>
          <a:xfrm>
            <a:off x="1016000" y="2921000"/>
            <a:ext cx="10160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1500" b="0" i="0" u="none" strike="noStrike">
                <a:solidFill>
                  <a:srgbClr val="000000"/>
                </a:solidFill>
                <a:latin typeface="Inter"/>
                <a:ea typeface="Inter"/>
                <a:cs typeface="Inter"/>
                <a:sym typeface="Inter"/>
              </a:rPr>
              <a:t>1. </a:t>
            </a:r>
            <a:r>
              <a:rPr lang="en-US" sz="1500" b="1" i="0" u="none" strike="noStrike">
                <a:solidFill>
                  <a:srgbClr val="000000"/>
                </a:solidFill>
                <a:latin typeface="Inter"/>
                <a:ea typeface="Inter"/>
                <a:cs typeface="Inter"/>
                <a:sym typeface="Inter"/>
              </a:rPr>
              <a:t>Emotional Description Generator (EDG)</a:t>
            </a:r>
            <a:r>
              <a:rPr lang="en-US" sz="1500" b="0" i="0" u="none" strike="noStrike">
                <a:solidFill>
                  <a:srgbClr val="000000"/>
                </a:solidFill>
                <a:latin typeface="Inter"/>
                <a:ea typeface="Inter"/>
                <a:cs typeface="Inter"/>
                <a:sym typeface="Inter"/>
              </a:rPr>
              <a:t>: turns prosodic features and facial action units into natural-language emotional descriptions.</a:t>
            </a:r>
            <a:endParaRPr lang="en-US" sz="1100"/>
          </a:p>
          <a:p>
            <a:pPr marL="0" indent="0" algn="l">
              <a:lnSpc>
                <a:spcPct val="158000"/>
              </a:lnSpc>
            </a:pPr>
            <a:r>
              <a:rPr lang="en-US" sz="1500" b="0" i="0" u="none" strike="noStrike">
                <a:solidFill>
                  <a:srgbClr val="000000"/>
                </a:solidFill>
                <a:latin typeface="Inter"/>
                <a:ea typeface="Inter"/>
                <a:cs typeface="Inter"/>
                <a:sym typeface="Inter"/>
              </a:rPr>
              <a:t>2. </a:t>
            </a:r>
            <a:r>
              <a:rPr lang="en-US" sz="1500" b="1" i="0" u="none" strike="noStrike">
                <a:solidFill>
                  <a:srgbClr val="000000"/>
                </a:solidFill>
                <a:latin typeface="Inter"/>
                <a:ea typeface="Inter"/>
                <a:cs typeface="Inter"/>
                <a:sym typeface="Inter"/>
              </a:rPr>
              <a:t>Text-Guided Progressive Fusion (TPF)</a:t>
            </a:r>
            <a:r>
              <a:rPr lang="en-US" sz="1500" b="0" i="0" u="none" strike="noStrike">
                <a:solidFill>
                  <a:srgbClr val="000000"/>
                </a:solidFill>
                <a:latin typeface="Inter"/>
                <a:ea typeface="Inter"/>
                <a:cs typeface="Inter"/>
                <a:sym typeface="Inter"/>
              </a:rPr>
              <a:t>: uses the text stream as the core modality to iteratively refine audio and visual features, closing the gap between core and minor modalities.</a:t>
            </a:r>
            <a:endParaRPr lang="en-US" sz="1500" b="0" i="0" u="none" strike="noStrike">
              <a:solidFill>
                <a:srgbClr val="000000"/>
              </a:solidFill>
              <a:latin typeface="Inter"/>
              <a:ea typeface="Inter"/>
              <a:cs typeface="Inter"/>
              <a:sym typeface="Inter"/>
            </a:endParaRPr>
          </a:p>
          <a:p>
            <a:pPr marL="0" indent="0" algn="l">
              <a:lnSpc>
                <a:spcPct val="158000"/>
              </a:lnSpc>
            </a:pPr>
            <a:r>
              <a:rPr lang="en-US" sz="1500" b="0" i="0" u="none" strike="noStrike">
                <a:solidFill>
                  <a:srgbClr val="000000"/>
                </a:solidFill>
                <a:latin typeface="Inter"/>
                <a:ea typeface="Inter"/>
                <a:cs typeface="Inter"/>
                <a:sym typeface="Inter"/>
              </a:rPr>
              <a:t>3. </a:t>
            </a:r>
            <a:r>
              <a:rPr lang="en-US" sz="1500" b="1" i="0" u="none" strike="noStrike">
                <a:solidFill>
                  <a:srgbClr val="000000"/>
                </a:solidFill>
                <a:latin typeface="Inter"/>
                <a:ea typeface="Inter"/>
                <a:cs typeface="Inter"/>
                <a:sym typeface="Inter"/>
              </a:rPr>
              <a:t>Strong empirical results</a:t>
            </a:r>
            <a:r>
              <a:rPr lang="en-US" sz="1500" b="0" i="0" u="none" strike="noStrike">
                <a:solidFill>
                  <a:srgbClr val="000000"/>
                </a:solidFill>
                <a:latin typeface="Inter"/>
                <a:ea typeface="Inter"/>
                <a:cs typeface="Inter"/>
                <a:sym typeface="Inter"/>
              </a:rPr>
              <a:t>: state of the art on MOSI, MOSEI, and CH-SIMS, with particular improvement on fine-grained 5-class accuracy.</a:t>
            </a:r>
            <a:endParaRPr lang="en-US" sz="1500" b="0" i="0" u="none" strike="noStrike">
              <a:solidFill>
                <a:srgbClr val="00000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62865" y="66675"/>
            <a:ext cx="4559935"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DEVA: Overall Architecture</a:t>
            </a:r>
            <a:endParaRPr lang="en-US" sz="1100"/>
          </a:p>
        </p:txBody>
      </p:sp>
      <p:cxnSp>
        <p:nvCxnSpPr>
          <p:cNvPr id="3" name="Connector 3"/>
          <p:cNvCxnSpPr/>
          <p:nvPr/>
        </p:nvCxnSpPr>
        <p:spPr>
          <a:xfrm rot="-4297">
            <a:off x="62869" y="555625"/>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016000" y="1778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5" name="AutoShape 5"/>
          <p:cNvSpPr txBox="1"/>
          <p:nvPr/>
        </p:nvSpPr>
        <p:spPr>
          <a:xfrm>
            <a:off x="741045" y="3895725"/>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1400" b="1" i="0" u="none" strike="noStrike">
                <a:solidFill>
                  <a:srgbClr val="000000"/>
                </a:solidFill>
                <a:latin typeface="Inter"/>
                <a:ea typeface="Inter"/>
                <a:cs typeface="Inter"/>
                <a:sym typeface="Inter"/>
              </a:rPr>
              <a:t>1. Unimodal coding</a:t>
            </a:r>
            <a:r>
              <a:rPr lang="en-US" sz="1400" b="0" i="0" u="none" strike="noStrike">
                <a:solidFill>
                  <a:srgbClr val="000000"/>
                </a:solidFill>
                <a:latin typeface="Inter"/>
                <a:ea typeface="Inter"/>
                <a:cs typeface="Inter"/>
                <a:sym typeface="Inter"/>
              </a:rPr>
              <a:t> — BERT for text, audio/visual feature extractors (Librosa, OpenFace); each modality is projected into a unified Transformer representation.</a:t>
            </a:r>
            <a:endParaRPr lang="en-US" sz="1100"/>
          </a:p>
          <a:p>
            <a:pPr marL="0" indent="0" algn="l">
              <a:lnSpc>
                <a:spcPct val="158000"/>
              </a:lnSpc>
            </a:pPr>
            <a:r>
              <a:rPr lang="en-US" sz="1400" b="1" i="0" u="none" strike="noStrike">
                <a:solidFill>
                  <a:srgbClr val="000000"/>
                </a:solidFill>
                <a:latin typeface="Inter"/>
                <a:ea typeface="Inter"/>
                <a:cs typeface="Inter"/>
                <a:sym typeface="Inter"/>
              </a:rPr>
              <a:t>2. Emotional Description Generator (EDG)</a:t>
            </a:r>
            <a:r>
              <a:rPr lang="en-US" sz="1400" b="0" i="0" u="none" strike="noStrike">
                <a:solidFill>
                  <a:srgbClr val="000000"/>
                </a:solidFill>
                <a:latin typeface="Inter"/>
                <a:ea typeface="Inter"/>
                <a:cs typeface="Inter"/>
                <a:sym typeface="Inter"/>
              </a:rPr>
              <a:t> — prosodic features and facial action units are converted into short textual descriptions D_a and D_v, then encoded with the same Transformer.</a:t>
            </a:r>
            <a:endParaRPr lang="en-US" sz="1400" b="0" i="0" u="none" strike="noStrike">
              <a:solidFill>
                <a:srgbClr val="000000"/>
              </a:solidFill>
              <a:latin typeface="Inter"/>
              <a:ea typeface="Inter"/>
              <a:cs typeface="Inter"/>
              <a:sym typeface="Inter"/>
            </a:endParaRPr>
          </a:p>
          <a:p>
            <a:pPr marL="0" indent="0" algn="l">
              <a:lnSpc>
                <a:spcPct val="158000"/>
              </a:lnSpc>
            </a:pPr>
            <a:r>
              <a:rPr lang="en-US" sz="1400" b="1" i="0" u="none" strike="noStrike">
                <a:solidFill>
                  <a:srgbClr val="000000"/>
                </a:solidFill>
                <a:latin typeface="Inter"/>
                <a:ea typeface="Inter"/>
                <a:cs typeface="Inter"/>
                <a:sym typeface="Inter"/>
              </a:rPr>
              <a:t>3. Feature enhancement</a:t>
            </a:r>
            <a:r>
              <a:rPr lang="en-US" sz="1400" b="0" i="0" u="none" strike="noStrike">
                <a:solidFill>
                  <a:srgbClr val="000000"/>
                </a:solidFill>
                <a:latin typeface="Inter"/>
                <a:ea typeface="Inter"/>
                <a:cs typeface="Inter"/>
                <a:sym typeface="Inter"/>
              </a:rPr>
              <a:t> — raw features are concatenated with their textual description and passed through a fully-connected layer.</a:t>
            </a:r>
            <a:endParaRPr lang="en-US" sz="1400" b="0" i="0" u="none" strike="noStrike">
              <a:solidFill>
                <a:srgbClr val="000000"/>
              </a:solidFill>
              <a:latin typeface="Inter"/>
              <a:ea typeface="Inter"/>
              <a:cs typeface="Inter"/>
              <a:sym typeface="Inter"/>
            </a:endParaRPr>
          </a:p>
          <a:p>
            <a:pPr marL="0" indent="0" algn="l">
              <a:lnSpc>
                <a:spcPct val="158000"/>
              </a:lnSpc>
            </a:pPr>
            <a:r>
              <a:rPr lang="en-US" sz="1400" b="1" i="0" u="none" strike="noStrike">
                <a:solidFill>
                  <a:srgbClr val="000000"/>
                </a:solidFill>
                <a:latin typeface="Inter"/>
                <a:ea typeface="Inter"/>
                <a:cs typeface="Inter"/>
                <a:sym typeface="Inter"/>
              </a:rPr>
              <a:t>4. Text-Guided Progressive Fusion (TPF)</a:t>
            </a:r>
            <a:r>
              <a:rPr lang="en-US" sz="1400" b="0" i="0" u="none" strike="noStrike">
                <a:solidFill>
                  <a:srgbClr val="000000"/>
                </a:solidFill>
                <a:latin typeface="Inter"/>
                <a:ea typeface="Inter"/>
                <a:cs typeface="Inter"/>
                <a:sym typeface="Inter"/>
              </a:rPr>
              <a:t> — K layers of Minor-modality Fusion Units (MFU) and core-modality Enhancer Units (CEU), using text as the guide.</a:t>
            </a:r>
            <a:endParaRPr lang="en-US" sz="1400" b="0" i="0" u="none" strike="noStrike">
              <a:solidFill>
                <a:srgbClr val="000000"/>
              </a:solidFill>
              <a:latin typeface="Inter"/>
              <a:ea typeface="Inter"/>
              <a:cs typeface="Inter"/>
              <a:sym typeface="Inter"/>
            </a:endParaRPr>
          </a:p>
          <a:p>
            <a:pPr marL="0" indent="0" algn="l">
              <a:lnSpc>
                <a:spcPct val="158000"/>
              </a:lnSpc>
            </a:pPr>
            <a:endParaRPr lang="en-US" sz="1400" b="0" i="0" u="none" strike="noStrike">
              <a:solidFill>
                <a:srgbClr val="000000"/>
              </a:solidFill>
              <a:latin typeface="Inter"/>
              <a:ea typeface="Inter"/>
              <a:cs typeface="Inter"/>
              <a:sym typeface="Inter"/>
            </a:endParaRPr>
          </a:p>
        </p:txBody>
      </p:sp>
      <p:pic>
        <p:nvPicPr>
          <p:cNvPr id="6" name="图片 5"/>
          <p:cNvPicPr>
            <a:picLocks noChangeAspect="1"/>
          </p:cNvPicPr>
          <p:nvPr/>
        </p:nvPicPr>
        <p:blipFill>
          <a:blip r:embed="rId1"/>
          <a:stretch>
            <a:fillRect/>
          </a:stretch>
        </p:blipFill>
        <p:spPr>
          <a:xfrm>
            <a:off x="1861820" y="598170"/>
            <a:ext cx="6558280" cy="3575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Emotional Description Generator (EDG)</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016000" y="1778000"/>
            <a:ext cx="4826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1" i="0" u="none" strike="noStrike">
                <a:solidFill>
                  <a:srgbClr val="000000"/>
                </a:solidFill>
                <a:latin typeface="Inter"/>
                <a:ea typeface="Inter"/>
                <a:cs typeface="Inter"/>
                <a:sym typeface="Inter"/>
              </a:rPr>
              <a:t>Audio Emotional Description (AED)</a:t>
            </a:r>
            <a:endParaRPr lang="en-US" sz="1100"/>
          </a:p>
          <a:p>
            <a:pPr marL="0" indent="0" algn="l">
              <a:lnSpc>
                <a:spcPct val="142000"/>
              </a:lnSpc>
            </a:pPr>
            <a:r>
              <a:rPr lang="en-US" sz="1400" b="0" i="0" u="none" strike="noStrike">
                <a:solidFill>
                  <a:srgbClr val="000000"/>
                </a:solidFill>
                <a:latin typeface="Inter"/>
                <a:ea typeface="Inter"/>
                <a:cs typeface="Inter"/>
                <a:sym typeface="Inter"/>
              </a:rPr>
              <a:t>Extracted with OpenSMILE, four prosodic features are each binned into low / normal / high:</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 loudness, pitch, jitter, shimmer</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Template: "The speaker made such an emotion: pitch, loudness, jitter, and shimmer at different levels."</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The resulting text is encoded by BERT into D_a.</a:t>
            </a:r>
            <a:endParaRPr lang="en-US" sz="1400" b="0" i="0" u="none" strike="noStrike">
              <a:solidFill>
                <a:srgbClr val="000000"/>
              </a:solidFill>
              <a:latin typeface="Inter"/>
              <a:ea typeface="Inter"/>
              <a:cs typeface="Inter"/>
              <a:sym typeface="Inter"/>
            </a:endParaRPr>
          </a:p>
        </p:txBody>
      </p:sp>
      <p:sp>
        <p:nvSpPr>
          <p:cNvPr id="5" name="AutoShape 5"/>
          <p:cNvSpPr txBox="1"/>
          <p:nvPr/>
        </p:nvSpPr>
        <p:spPr>
          <a:xfrm>
            <a:off x="6350000" y="1778000"/>
            <a:ext cx="4826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1" i="0" u="none" strike="noStrike">
                <a:solidFill>
                  <a:srgbClr val="000000"/>
                </a:solidFill>
                <a:latin typeface="Inter"/>
                <a:ea typeface="Inter"/>
                <a:cs typeface="Inter"/>
                <a:sym typeface="Inter"/>
              </a:rPr>
              <a:t>Visual Emotional Description (VED)</a:t>
            </a:r>
            <a:endParaRPr lang="en-US" sz="1100"/>
          </a:p>
          <a:p>
            <a:pPr marL="0" indent="0" algn="l">
              <a:lnSpc>
                <a:spcPct val="142000"/>
              </a:lnSpc>
            </a:pPr>
            <a:r>
              <a:rPr lang="en-US" sz="1400" b="0" i="0" u="none" strike="noStrike">
                <a:solidFill>
                  <a:srgbClr val="000000"/>
                </a:solidFill>
                <a:latin typeface="Inter"/>
                <a:ea typeface="Inter"/>
                <a:cs typeface="Inter"/>
                <a:sym typeface="Inter"/>
              </a:rPr>
              <a:t>OpenFace provides 16 facial Action Units (AUs). An AU is kept only if it appears continuously for three frames; the top-k most salient AUs are selected.</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Examples: AU01 inner brow raise, AU04 brow lower, AU12 lip corner pull, AU23 lip tighten.</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Template: "The speaker made such an expression: k AUs."</a:t>
            </a:r>
            <a:endParaRPr lang="en-US" sz="1400" b="0" i="0" u="none" strike="noStrike">
              <a:solidFill>
                <a:srgbClr val="000000"/>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672465" y="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Text-Guided Progressive Fusion (TPF)</a:t>
            </a:r>
            <a:endParaRPr lang="en-US" sz="1100"/>
          </a:p>
        </p:txBody>
      </p:sp>
      <p:cxnSp>
        <p:nvCxnSpPr>
          <p:cNvPr id="3" name="Connector 3"/>
          <p:cNvCxnSpPr/>
          <p:nvPr/>
        </p:nvCxnSpPr>
        <p:spPr>
          <a:xfrm rot="-4297">
            <a:off x="672469" y="588645"/>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819150" y="4342130"/>
            <a:ext cx="10160000" cy="70231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000000"/>
                </a:solidFill>
                <a:latin typeface="Inter"/>
                <a:ea typeface="Inter"/>
                <a:cs typeface="Inter"/>
                <a:sym typeface="Inter"/>
              </a:rPr>
              <a:t>Text is treated as the </a:t>
            </a:r>
            <a:r>
              <a:rPr lang="en-US" sz="1500" b="1" i="0" u="none" strike="noStrike">
                <a:solidFill>
                  <a:srgbClr val="000000"/>
                </a:solidFill>
                <a:latin typeface="Inter"/>
                <a:ea typeface="Inter"/>
                <a:cs typeface="Inter"/>
                <a:sym typeface="Inter"/>
              </a:rPr>
              <a:t>core modality</a:t>
            </a:r>
            <a:r>
              <a:rPr lang="en-US" sz="1500" b="0" i="0" u="none" strike="noStrike">
                <a:solidFill>
                  <a:srgbClr val="000000"/>
                </a:solidFill>
                <a:latin typeface="Inter"/>
                <a:ea typeface="Inter"/>
                <a:cs typeface="Inter"/>
                <a:sym typeface="Inter"/>
              </a:rPr>
              <a:t>; audio and vision are </a:t>
            </a:r>
            <a:r>
              <a:rPr lang="en-US" sz="1500" b="1" i="0" u="none" strike="noStrike">
                <a:solidFill>
                  <a:srgbClr val="000000"/>
                </a:solidFill>
                <a:latin typeface="Inter"/>
                <a:ea typeface="Inter"/>
                <a:cs typeface="Inter"/>
                <a:sym typeface="Inter"/>
              </a:rPr>
              <a:t>minor modalities</a:t>
            </a:r>
            <a:r>
              <a:rPr lang="en-US" sz="1500" b="0" i="0" u="none" strike="noStrike">
                <a:solidFill>
                  <a:srgbClr val="000000"/>
                </a:solidFill>
                <a:latin typeface="Inter"/>
                <a:ea typeface="Inter"/>
                <a:cs typeface="Inter"/>
                <a:sym typeface="Inter"/>
              </a:rPr>
              <a:t>. TPF stacks K = J + 1 layers, each containing a Minor-modality Fusion Unit (MFU) and a core-modality Enhancer Unit (CEU).</a:t>
            </a:r>
            <a:endParaRPr lang="en-US" sz="1100"/>
          </a:p>
        </p:txBody>
      </p:sp>
      <p:sp>
        <p:nvSpPr>
          <p:cNvPr id="5" name="AutoShape 5"/>
          <p:cNvSpPr txBox="1"/>
          <p:nvPr/>
        </p:nvSpPr>
        <p:spPr>
          <a:xfrm>
            <a:off x="819150" y="4845685"/>
            <a:ext cx="10160000" cy="2105025"/>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1" i="0" u="none" strike="noStrike">
                <a:solidFill>
                  <a:srgbClr val="000000"/>
                </a:solidFill>
                <a:latin typeface="Inter"/>
                <a:ea typeface="Inter"/>
                <a:cs typeface="Inter"/>
                <a:sym typeface="Inter"/>
              </a:rPr>
              <a:t>MFU</a:t>
            </a:r>
            <a:r>
              <a:rPr lang="en-US" sz="1400" b="0" i="0" u="none" strike="noStrike">
                <a:solidFill>
                  <a:srgbClr val="000000"/>
                </a:solidFill>
                <a:latin typeface="Inter"/>
                <a:ea typeface="Inter"/>
                <a:cs typeface="Inter"/>
                <a:sym typeface="Inter"/>
              </a:rPr>
              <a:t> — uses the j-th layer's hidden text state H_t^(j-1) as the query </a:t>
            </a:r>
            <a:r>
              <a:rPr lang="en-US" sz="1400" b="0" i="0" u="none" strike="noStrike">
                <a:solidFill>
                  <a:srgbClr val="000000"/>
                </a:solidFill>
                <a:latin typeface="Inter"/>
                <a:ea typeface="Inter"/>
                <a:cs typeface="Inter"/>
                <a:sym typeface="Inter"/>
              </a:rPr>
              <a:t>Q, and the minor-modality features (audio / vision) as values V. Cross-modal attention iteratively refines the minor features so they align with the current text representation.</a:t>
            </a:r>
            <a:endParaRPr lang="en-US" sz="1100"/>
          </a:p>
          <a:p>
            <a:pPr marL="0" indent="0" algn="l">
              <a:lnSpc>
                <a:spcPct val="150000"/>
              </a:lnSpc>
            </a:pPr>
            <a:r>
              <a:rPr lang="en-US" sz="1400" b="1" i="0" u="none" strike="noStrike">
                <a:solidFill>
                  <a:srgbClr val="000000"/>
                </a:solidFill>
                <a:latin typeface="Inter"/>
                <a:ea typeface="Inter"/>
                <a:cs typeface="Inter"/>
                <a:sym typeface="Inter"/>
              </a:rPr>
              <a:t>CEU</a:t>
            </a:r>
            <a:r>
              <a:rPr lang="en-US" sz="1400" b="0" i="0" u="none" strike="noStrike">
                <a:solidFill>
                  <a:srgbClr val="000000"/>
                </a:solidFill>
                <a:latin typeface="Inter"/>
                <a:ea typeface="Inter"/>
                <a:cs typeface="Inter"/>
                <a:sym typeface="Inter"/>
              </a:rPr>
              <a:t> — takes the refined minor features and uses them to update the core text hidden state via cross-modal attention, so the text stream also absorbs non-verbal emotional cues.</a:t>
            </a:r>
            <a:endParaRPr lang="en-US" sz="1400" b="0" i="0" u="none" strike="noStrike">
              <a:solidFill>
                <a:srgbClr val="000000"/>
              </a:solidFill>
              <a:latin typeface="Inter"/>
              <a:ea typeface="Inter"/>
              <a:cs typeface="Inter"/>
              <a:sym typeface="Inter"/>
            </a:endParaRPr>
          </a:p>
          <a:p>
            <a:pPr marL="0" indent="0" algn="l">
              <a:lnSpc>
                <a:spcPct val="150000"/>
              </a:lnSpc>
            </a:pPr>
            <a:r>
              <a:rPr lang="en-US" sz="1400" b="1" i="0" u="none" strike="noStrike">
                <a:solidFill>
                  <a:srgbClr val="000000"/>
                </a:solidFill>
                <a:latin typeface="Inter"/>
                <a:ea typeface="Inter"/>
                <a:cs typeface="Inter"/>
                <a:sym typeface="Inter"/>
              </a:rPr>
              <a:t>Final fusion</a:t>
            </a:r>
            <a:r>
              <a:rPr lang="en-US" sz="1400" b="0" i="0" u="none" strike="noStrike">
                <a:solidFill>
                  <a:srgbClr val="000000"/>
                </a:solidFill>
                <a:latin typeface="Inter"/>
                <a:ea typeface="Inter"/>
                <a:cs typeface="Inter"/>
                <a:sym typeface="Inter"/>
              </a:rPr>
              <a:t> — the core output H_t^(J) and the refined minor features H_m^(K) are fed into a cross-modal Transformer, and a classifier produces the sentiment.</a:t>
            </a:r>
            <a:endParaRPr lang="en-US" sz="1400" b="0" i="0" u="none" strike="noStrike">
              <a:solidFill>
                <a:srgbClr val="000000"/>
              </a:solidFill>
              <a:latin typeface="Inter"/>
              <a:ea typeface="Inter"/>
              <a:cs typeface="Inter"/>
              <a:sym typeface="Inter"/>
            </a:endParaRPr>
          </a:p>
        </p:txBody>
      </p:sp>
      <p:pic>
        <p:nvPicPr>
          <p:cNvPr id="6" name="图片 5"/>
          <p:cNvPicPr>
            <a:picLocks noChangeAspect="1"/>
          </p:cNvPicPr>
          <p:nvPr/>
        </p:nvPicPr>
        <p:blipFill>
          <a:blip r:embed="rId1"/>
          <a:stretch>
            <a:fillRect/>
          </a:stretch>
        </p:blipFill>
        <p:spPr>
          <a:xfrm>
            <a:off x="2066925" y="431800"/>
            <a:ext cx="6801485" cy="38074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Datasets and Evaluation Setup</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graphicFrame>
        <p:nvGraphicFramePr>
          <p:cNvPr id="4" name="Table 4"/>
          <p:cNvGraphicFramePr>
            <a:graphicFrameLocks noGrp="1"/>
          </p:cNvGraphicFramePr>
          <p:nvPr/>
        </p:nvGraphicFramePr>
        <p:xfrm>
          <a:off x="1016000" y="1778000"/>
          <a:ext cx="10160000" cy="2032000"/>
        </p:xfrm>
        <a:graphic>
          <a:graphicData uri="http://schemas.openxmlformats.org/drawingml/2006/table">
            <a:tbl>
              <a:tblPr>
                <a:effectLst/>
              </a:tblPr>
              <a:tblGrid>
                <a:gridCol w="1524000"/>
                <a:gridCol w="3556000"/>
                <a:gridCol w="5080000"/>
              </a:tblGrid>
              <a:tr h="469900">
                <a:tc>
                  <a:txBody>
                    <a:bodyPr rtlCol="0"/>
                    <a:lstStyle/>
                    <a:p>
                      <a:pPr marL="0" indent="0" algn="ctr">
                        <a:lnSpc>
                          <a:spcPct val="100000"/>
                        </a:lnSpc>
                        <a:defRPr/>
                      </a:pPr>
                      <a:r>
                        <a:rPr lang="en-US" sz="1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Dataset</a:t>
                      </a:r>
                      <a:endParaRPr lang="en-US" sz="1100"/>
                    </a:p>
                  </a:txBody>
                  <a:tcPr marL="101600" marR="101600" marT="101600" marB="101600" anchor="t" anchorCtr="0">
                    <a:lnL>
                      <a:noFill/>
                    </a:lnL>
                    <a:lnR>
                      <a:noFill/>
                    </a:lnR>
                    <a:lnT>
                      <a:noFill/>
                    </a:lnT>
                    <a:lnB>
                      <a:noFill/>
                    </a:lnB>
                    <a:solidFill>
                      <a:srgbClr val="F5F5F5">
                        <a:alpha val="100000"/>
                      </a:srgbClr>
                    </a:solidFill>
                  </a:tcPr>
                </a:tc>
                <a:tc>
                  <a:txBody>
                    <a:bodyPr rtlCol="0"/>
                    <a:lstStyle/>
                    <a:p>
                      <a:pPr marL="0" indent="0" algn="l">
                        <a:lnSpc>
                          <a:spcPct val="100000"/>
                        </a:lnSpc>
                        <a:defRPr/>
                      </a:pPr>
                      <a:r>
                        <a:rPr lang="en-US" sz="1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Scale</a:t>
                      </a:r>
                      <a:endParaRPr lang="en-US" sz="1100"/>
                    </a:p>
                  </a:txBody>
                  <a:tcPr marL="101600" marR="101600" marT="101600" marB="101600" anchor="t" anchorCtr="0">
                    <a:lnL>
                      <a:noFill/>
                    </a:lnL>
                    <a:lnR>
                      <a:noFill/>
                    </a:lnR>
                    <a:lnT>
                      <a:noFill/>
                    </a:lnT>
                    <a:lnB>
                      <a:noFill/>
                    </a:lnB>
                    <a:solidFill>
                      <a:srgbClr val="F5F5F5">
                        <a:alpha val="100000"/>
                      </a:srgbClr>
                    </a:solidFill>
                  </a:tcPr>
                </a:tc>
                <a:tc>
                  <a:txBody>
                    <a:bodyPr rtlCol="0"/>
                    <a:lstStyle/>
                    <a:p>
                      <a:pPr marL="0" indent="0" algn="l">
                        <a:lnSpc>
                          <a:spcPct val="100000"/>
                        </a:lnSpc>
                        <a:defRPr/>
                      </a:pPr>
                      <a:r>
                        <a:rPr lang="en-US" sz="1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Label</a:t>
                      </a:r>
                      <a:endParaRPr lang="en-US" sz="1100"/>
                    </a:p>
                  </a:txBody>
                  <a:tcPr marL="101600" marR="101600" marT="101600" marB="101600" anchor="t" anchorCtr="0">
                    <a:lnL>
                      <a:noFill/>
                    </a:lnL>
                    <a:lnR>
                      <a:noFill/>
                    </a:lnR>
                    <a:lnT>
                      <a:noFill/>
                    </a:lnT>
                    <a:lnB>
                      <a:noFill/>
                    </a:lnB>
                    <a:solidFill>
                      <a:srgbClr val="F5F5F5">
                        <a:alpha val="100000"/>
                      </a:srgbClr>
                    </a:solidFill>
                  </a:tcPr>
                </a:tc>
              </a:tr>
              <a:tr h="520700">
                <a:tc>
                  <a:txBody>
                    <a:bodyPr rtlCol="0"/>
                    <a:lstStyle/>
                    <a:p>
                      <a:pPr marL="0" indent="0" algn="ctr">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MOSI</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2,199 YouTube monologue clips</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Sentiment score from -3 to +3</a:t>
                      </a:r>
                      <a:endParaRPr lang="en-US" sz="1100"/>
                    </a:p>
                  </a:txBody>
                  <a:tcPr marL="101600" marR="101600" marT="101600" marB="101600" anchor="t" anchorCtr="0">
                    <a:lnL>
                      <a:noFill/>
                    </a:lnL>
                    <a:lnR>
                      <a:noFill/>
                    </a:lnR>
                    <a:lnT>
                      <a:noFill/>
                    </a:lnT>
                    <a:lnB>
                      <a:noFill/>
                    </a:lnB>
                    <a:noFill/>
                  </a:tcPr>
                </a:tc>
              </a:tr>
              <a:tr h="520700">
                <a:tc>
                  <a:txBody>
                    <a:bodyPr rtlCol="0"/>
                    <a:lstStyle/>
                    <a:p>
                      <a:pPr marL="0" indent="0" algn="ctr">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MOSEI</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23,454 clips from 1,000 speakers</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Continuous sentiment score -3 to +3</a:t>
                      </a:r>
                      <a:endParaRPr lang="en-US" sz="1100"/>
                    </a:p>
                  </a:txBody>
                  <a:tcPr marL="101600" marR="101600" marT="101600" marB="101600" anchor="t" anchorCtr="0">
                    <a:lnL>
                      <a:noFill/>
                    </a:lnL>
                    <a:lnR>
                      <a:noFill/>
                    </a:lnR>
                    <a:lnT>
                      <a:noFill/>
                    </a:lnT>
                    <a:lnB>
                      <a:noFill/>
                    </a:lnB>
                    <a:noFill/>
                  </a:tcPr>
                </a:tc>
              </a:tr>
              <a:tr h="520700">
                <a:tc>
                  <a:txBody>
                    <a:bodyPr rtlCol="0"/>
                    <a:lstStyle/>
                    <a:p>
                      <a:pPr marL="0" indent="0" algn="ctr">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CH-SIMS</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2,281 Chinese clips from TV / movies</a:t>
                      </a:r>
                      <a:endParaRPr lang="en-US" sz="1100"/>
                    </a:p>
                  </a:txBody>
                  <a:tcPr marL="101600" marR="101600" marT="101600" marB="101600" anchor="t" anchorCtr="0">
                    <a:lnL>
                      <a:noFill/>
                    </a:lnL>
                    <a:lnR>
                      <a:noFill/>
                    </a:lnR>
                    <a:lnT>
                      <a:noFill/>
                    </a:lnT>
                    <a:lnB>
                      <a:noFill/>
                    </a:lnB>
                    <a:noFill/>
                  </a:tcPr>
                </a:tc>
                <a:tc>
                  <a:txBody>
                    <a:bodyPr rtlCol="0"/>
                    <a:lstStyle/>
                    <a:p>
                      <a:pPr marL="0" indent="0" algn="l">
                        <a:lnSpc>
                          <a:spcPct val="100000"/>
                        </a:lnSpc>
                        <a:defRPr/>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Fine-grained score -1 (negative) to +1 (positive)</a:t>
                      </a:r>
                      <a:endParaRPr lang="en-US" sz="1100"/>
                    </a:p>
                  </a:txBody>
                  <a:tcPr marL="101600" marR="101600" marT="101600" marB="101600" anchor="t" anchorCtr="0">
                    <a:lnL>
                      <a:noFill/>
                    </a:lnL>
                    <a:lnR>
                      <a:noFill/>
                    </a:lnR>
                    <a:lnT>
                      <a:noFill/>
                    </a:lnT>
                    <a:lnB>
                      <a:noFill/>
                    </a:lnB>
                    <a:noFill/>
                  </a:tcPr>
                </a:tc>
              </a:tr>
            </a:tbl>
          </a:graphicData>
        </a:graphic>
      </p:graphicFrame>
      <p:sp>
        <p:nvSpPr>
          <p:cNvPr id="5" name="AutoShape 5"/>
          <p:cNvSpPr txBox="1"/>
          <p:nvPr/>
        </p:nvSpPr>
        <p:spPr>
          <a:xfrm>
            <a:off x="1016000" y="419100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1" i="0" u="none" strike="noStrike">
                <a:solidFill>
                  <a:srgbClr val="000000"/>
                </a:solidFill>
                <a:latin typeface="Inter"/>
                <a:ea typeface="Inter"/>
                <a:cs typeface="Inter"/>
                <a:sym typeface="Inter"/>
              </a:rPr>
              <a:t>Metrics</a:t>
            </a:r>
            <a:endParaRPr lang="en-US" sz="1100"/>
          </a:p>
          <a:p>
            <a:pPr marL="0" indent="0" algn="l">
              <a:lnSpc>
                <a:spcPct val="142000"/>
              </a:lnSpc>
            </a:pPr>
            <a:r>
              <a:rPr lang="en-US" sz="1400" b="0" i="0" u="none" strike="noStrike">
                <a:solidFill>
                  <a:srgbClr val="000000"/>
                </a:solidFill>
                <a:latin typeface="Inter"/>
                <a:ea typeface="Inter"/>
                <a:cs typeface="Inter"/>
                <a:sym typeface="Inter"/>
              </a:rPr>
              <a:t>· Classification: Weighted-F1, 2-class accuracy (negative / non-negative), Acc-2 (negative / positive), Acc-5, Acc-7</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 Regression: Mean Absolute Error (MAE), Pearson Correlation (Corr)</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1" i="0" u="none" strike="noStrike">
                <a:solidFill>
                  <a:srgbClr val="000000"/>
                </a:solidFill>
                <a:latin typeface="Inter"/>
                <a:ea typeface="Inter"/>
                <a:cs typeface="Inter"/>
                <a:sym typeface="Inter"/>
              </a:rPr>
              <a:t>Baselines</a:t>
            </a:r>
            <a:r>
              <a:rPr lang="en-US" sz="1400" b="0" i="0" u="none" strike="noStrike">
                <a:solidFill>
                  <a:srgbClr val="000000"/>
                </a:solidFill>
                <a:latin typeface="Inter"/>
                <a:ea typeface="Inter"/>
                <a:cs typeface="Inter"/>
                <a:sym typeface="Inter"/>
              </a:rPr>
              <a:t>: TFN, LMF, MulT, MISA, MAG-BERT, PMR, MFSA, FDMER, Self-MM, ALMT, ConFEDE</a:t>
            </a:r>
            <a:endParaRPr lang="en-US" sz="1400" b="0" i="0" u="none" strike="noStrike">
              <a:solidFill>
                <a:srgbClr val="000000"/>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68834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Main Results: DEVA vs. State of the Art</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graphicFrame>
        <p:nvGraphicFramePr>
          <p:cNvPr id="4" name="Table 4"/>
          <p:cNvGraphicFramePr>
            <a:graphicFrameLocks noGrp="1"/>
          </p:cNvGraphicFramePr>
          <p:nvPr/>
        </p:nvGraphicFramePr>
        <p:xfrm>
          <a:off x="1016000" y="1778000"/>
          <a:ext cx="4885690" cy="2540000"/>
        </p:xfrm>
        <a:graphic>
          <a:graphicData uri="http://schemas.openxmlformats.org/drawingml/2006/table">
            <a:tbl>
              <a:tblPr>
                <a:effectLst/>
              </a:tblPr>
              <a:tblGrid>
                <a:gridCol w="977265"/>
                <a:gridCol w="732790"/>
                <a:gridCol w="732790"/>
                <a:gridCol w="854710"/>
                <a:gridCol w="733425"/>
                <a:gridCol w="854710"/>
              </a:tblGrid>
              <a:tr h="546100">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Dataset</a:t>
                      </a:r>
                      <a:endParaRPr lang="en-US" sz="1100"/>
                    </a:p>
                  </a:txBody>
                  <a:tcPr marL="101600" marR="101600" marT="101600" marB="101600" anchor="t" anchorCtr="0">
                    <a:lnL>
                      <a:noFill/>
                    </a:lnL>
                    <a:lnR>
                      <a:noFill/>
                    </a:lnR>
                    <a:lnT>
                      <a:noFill/>
                    </a:lnT>
                    <a:lnB>
                      <a:noFill/>
                    </a:lnB>
                    <a:solidFill>
                      <a:srgbClr val="F5F5F5">
                        <a:alpha val="100000"/>
                      </a:srgbClr>
                    </a:solid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Acc-2</a:t>
                      </a:r>
                      <a:endParaRPr lang="en-US" sz="1100"/>
                    </a:p>
                  </a:txBody>
                  <a:tcPr marL="101600" marR="101600" marT="101600" marB="101600" anchor="t" anchorCtr="0">
                    <a:lnL>
                      <a:noFill/>
                    </a:lnL>
                    <a:lnR>
                      <a:noFill/>
                    </a:lnR>
                    <a:lnT>
                      <a:noFill/>
                    </a:lnT>
                    <a:lnB>
                      <a:noFill/>
                    </a:lnB>
                    <a:solidFill>
                      <a:srgbClr val="F5F5F5">
                        <a:alpha val="100000"/>
                      </a:srgbClr>
                    </a:solid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Acc-5 / Acc-7</a:t>
                      </a:r>
                      <a:endParaRPr lang="en-US" sz="1100"/>
                    </a:p>
                  </a:txBody>
                  <a:tcPr marL="101600" marR="101600" marT="101600" marB="101600" anchor="t" anchorCtr="0">
                    <a:lnL>
                      <a:noFill/>
                    </a:lnL>
                    <a:lnR>
                      <a:noFill/>
                    </a:lnR>
                    <a:lnT>
                      <a:noFill/>
                    </a:lnT>
                    <a:lnB>
                      <a:noFill/>
                    </a:lnB>
                    <a:solidFill>
                      <a:srgbClr val="F5F5F5">
                        <a:alpha val="100000"/>
                      </a:srgbClr>
                    </a:solid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F1</a:t>
                      </a:r>
                      <a:endParaRPr lang="en-US" sz="1100"/>
                    </a:p>
                  </a:txBody>
                  <a:tcPr marL="101600" marR="101600" marT="101600" marB="101600" anchor="t" anchorCtr="0">
                    <a:lnL>
                      <a:noFill/>
                    </a:lnL>
                    <a:lnR>
                      <a:noFill/>
                    </a:lnR>
                    <a:lnT>
                      <a:noFill/>
                    </a:lnT>
                    <a:lnB>
                      <a:noFill/>
                    </a:lnB>
                    <a:solidFill>
                      <a:srgbClr val="F5F5F5">
                        <a:alpha val="100000"/>
                      </a:srgbClr>
                    </a:solid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MAE</a:t>
                      </a:r>
                      <a:endParaRPr lang="en-US" sz="1100"/>
                    </a:p>
                  </a:txBody>
                  <a:tcPr marL="101600" marR="101600" marT="101600" marB="101600" anchor="t" anchorCtr="0">
                    <a:lnL>
                      <a:noFill/>
                    </a:lnL>
                    <a:lnR>
                      <a:noFill/>
                    </a:lnR>
                    <a:lnT>
                      <a:noFill/>
                    </a:lnT>
                    <a:lnB>
                      <a:noFill/>
                    </a:lnB>
                    <a:solidFill>
                      <a:srgbClr val="F5F5F5">
                        <a:alpha val="100000"/>
                      </a:srgbClr>
                    </a:solid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Corr</a:t>
                      </a:r>
                      <a:endParaRPr lang="en-US" sz="1100"/>
                    </a:p>
                  </a:txBody>
                  <a:tcPr marL="101600" marR="101600" marT="101600" marB="101600" anchor="t" anchorCtr="0">
                    <a:lnL>
                      <a:noFill/>
                    </a:lnL>
                    <a:lnR>
                      <a:noFill/>
                    </a:lnR>
                    <a:lnT>
                      <a:noFill/>
                    </a:lnT>
                    <a:lnB>
                      <a:noFill/>
                    </a:lnB>
                    <a:solidFill>
                      <a:srgbClr val="F5F5F5">
                        <a:alpha val="100000"/>
                      </a:srgbClr>
                    </a:solidFill>
                  </a:tcPr>
                </a:tc>
              </a:tr>
              <a:tr h="660400">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MOSI</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84.40</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51.78 / 46.32</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84.48</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0.730</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0.787</a:t>
                      </a:r>
                      <a:endParaRPr lang="en-US" sz="1100"/>
                    </a:p>
                  </a:txBody>
                  <a:tcPr marL="101600" marR="101600" marT="101600" marB="101600" anchor="t" anchorCtr="0">
                    <a:lnL>
                      <a:noFill/>
                    </a:lnL>
                    <a:lnR>
                      <a:noFill/>
                    </a:lnR>
                    <a:lnT>
                      <a:noFill/>
                    </a:lnT>
                    <a:lnB>
                      <a:noFill/>
                    </a:lnB>
                    <a:noFill/>
                  </a:tcPr>
                </a:tc>
              </a:tr>
              <a:tr h="660400">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MOSEI</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83.26</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55.32 / 52.26</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82.93</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0.541</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0.769</a:t>
                      </a:r>
                      <a:endParaRPr lang="en-US" sz="1100"/>
                    </a:p>
                  </a:txBody>
                  <a:tcPr marL="101600" marR="101600" marT="101600" marB="101600" anchor="t" anchorCtr="0">
                    <a:lnL>
                      <a:noFill/>
                    </a:lnL>
                    <a:lnR>
                      <a:noFill/>
                    </a:lnR>
                    <a:lnT>
                      <a:noFill/>
                    </a:lnT>
                    <a:lnB>
                      <a:noFill/>
                    </a:lnB>
                    <a:noFill/>
                  </a:tcPr>
                </a:tc>
              </a:tr>
              <a:tr h="673100">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CH-SIMS</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79.64</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65.42 / 43.07</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80.32</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0.424</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0.583</a:t>
                      </a:r>
                      <a:endParaRPr lang="en-US" sz="1100"/>
                    </a:p>
                  </a:txBody>
                  <a:tcPr marL="101600" marR="101600" marT="101600" marB="101600" anchor="t" anchorCtr="0">
                    <a:lnL>
                      <a:noFill/>
                    </a:lnL>
                    <a:lnR>
                      <a:noFill/>
                    </a:lnR>
                    <a:lnT>
                      <a:noFill/>
                    </a:lnT>
                    <a:lnB>
                      <a:noFill/>
                    </a:lnB>
                    <a:noFill/>
                  </a:tcPr>
                </a:tc>
              </a:tr>
            </a:tbl>
          </a:graphicData>
        </a:graphic>
      </p:graphicFrame>
      <p:sp>
        <p:nvSpPr>
          <p:cNvPr id="5" name="AutoShape 5"/>
          <p:cNvSpPr txBox="1"/>
          <p:nvPr/>
        </p:nvSpPr>
        <p:spPr>
          <a:xfrm>
            <a:off x="1016000" y="4699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600" b="0" i="0" u="none" strike="noStrike">
                <a:solidFill>
                  <a:srgbClr val="000000"/>
                </a:solidFill>
                <a:latin typeface="Inter"/>
                <a:ea typeface="Inter"/>
                <a:cs typeface="Inter"/>
                <a:sym typeface="Inter"/>
              </a:rPr>
              <a:t>· DEVA outperforms all baselines on Acc-2 and F1 across the three benchmarks.</a:t>
            </a:r>
            <a:endParaRPr lang="en-US" sz="1600"/>
          </a:p>
          <a:p>
            <a:pPr marL="0" indent="0" algn="l">
              <a:lnSpc>
                <a:spcPct val="133000"/>
              </a:lnSpc>
            </a:pPr>
            <a:r>
              <a:rPr lang="en-US" sz="1600" b="0" i="0" u="none" strike="noStrike">
                <a:solidFill>
                  <a:srgbClr val="000000"/>
                </a:solidFill>
                <a:latin typeface="Inter"/>
                <a:ea typeface="Inter"/>
                <a:cs typeface="Inter"/>
                <a:sym typeface="Inter"/>
              </a:rPr>
              <a:t>· On MOSI: +0.65% Acc-7 over the best baseline. On MOSEI: +0.27% Acc-7.</a:t>
            </a:r>
            <a:endParaRPr lang="en-US" sz="1600" b="0" i="0" u="none" strike="noStrike">
              <a:solidFill>
                <a:srgbClr val="000000"/>
              </a:solidFill>
              <a:latin typeface="Inter"/>
              <a:ea typeface="Inter"/>
              <a:cs typeface="Inter"/>
              <a:sym typeface="Inter"/>
            </a:endParaRPr>
          </a:p>
          <a:p>
            <a:pPr marL="0" indent="0" algn="l">
              <a:lnSpc>
                <a:spcPct val="133000"/>
              </a:lnSpc>
            </a:pPr>
            <a:r>
              <a:rPr lang="en-US" sz="1600" b="0" i="0" u="none" strike="noStrike">
                <a:solidFill>
                  <a:srgbClr val="000000"/>
                </a:solidFill>
                <a:latin typeface="Inter"/>
                <a:ea typeface="Inter"/>
                <a:cs typeface="Inter"/>
                <a:sym typeface="Inter"/>
              </a:rPr>
              <a:t>· On CH-SIMS (harder, more fine-grained): +1.05% Acc-2 and +1.34% Acc-5 over the strongest baseline.</a:t>
            </a:r>
            <a:endParaRPr lang="en-US" sz="1600" b="0" i="0" u="none" strike="noStrike">
              <a:solidFill>
                <a:srgbClr val="000000"/>
              </a:solidFill>
              <a:latin typeface="Inter"/>
              <a:ea typeface="Inter"/>
              <a:cs typeface="Inter"/>
              <a:sym typeface="Inter"/>
            </a:endParaRPr>
          </a:p>
        </p:txBody>
      </p:sp>
      <p:pic>
        <p:nvPicPr>
          <p:cNvPr id="6" name="图片 5"/>
          <p:cNvPicPr>
            <a:picLocks noChangeAspect="1"/>
          </p:cNvPicPr>
          <p:nvPr/>
        </p:nvPicPr>
        <p:blipFill>
          <a:blip r:embed="rId1"/>
          <a:stretch>
            <a:fillRect/>
          </a:stretch>
        </p:blipFill>
        <p:spPr>
          <a:xfrm>
            <a:off x="5755005" y="1384300"/>
            <a:ext cx="6525260" cy="23964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Ablation Study and Fine-grained Analysis</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016000" y="1778000"/>
            <a:ext cx="4826000" cy="431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1" i="0" u="none" strike="noStrike">
                <a:solidFill>
                  <a:srgbClr val="000000"/>
                </a:solidFill>
                <a:latin typeface="Inter"/>
                <a:ea typeface="Inter"/>
                <a:cs typeface="Inter"/>
                <a:sym typeface="Inter"/>
              </a:rPr>
              <a:t>Modality combinations (Table 5)</a:t>
            </a:r>
            <a:endParaRPr lang="en-US" sz="1100"/>
          </a:p>
          <a:p>
            <a:pPr marL="0" indent="0" algn="l">
              <a:lnSpc>
                <a:spcPct val="142000"/>
              </a:lnSpc>
            </a:pPr>
            <a:r>
              <a:rPr lang="en-US" sz="1400" b="0" i="0" u="none" strike="noStrike">
                <a:solidFill>
                  <a:srgbClr val="000000"/>
                </a:solidFill>
                <a:latin typeface="Inter"/>
                <a:ea typeface="Inter"/>
                <a:cs typeface="Inter"/>
                <a:sym typeface="Inter"/>
              </a:rPr>
              <a:t>· Removing AED or VED degrades Acc-2 on both MOSI and CH-SIMS, confirming each description contributes.</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 Removing audio-visual raw sources but keeping only text plus descriptions stays competitive on MOSI, and is comparable on CH-SIMS.</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1" i="0" u="none" strike="noStrike">
                <a:solidFill>
                  <a:srgbClr val="000000"/>
                </a:solidFill>
                <a:latin typeface="Inter"/>
                <a:ea typeface="Inter"/>
                <a:cs typeface="Inter"/>
                <a:sym typeface="Inter"/>
              </a:rPr>
              <a:t>Component ablation (Table 6)</a:t>
            </a:r>
            <a:endParaRPr lang="en-US" sz="1400" b="1"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 Removing MFU causes the largest drop: progressive fusion is the most important block.</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 Removing EDG confirms that textual emotional descriptions boost recognition.</a:t>
            </a:r>
            <a:endParaRPr lang="en-US" sz="1400" b="0" i="0" u="none" strike="noStrike">
              <a:solidFill>
                <a:srgbClr val="000000"/>
              </a:solidFill>
              <a:latin typeface="Inter"/>
              <a:ea typeface="Inter"/>
              <a:cs typeface="Inter"/>
              <a:sym typeface="Inter"/>
            </a:endParaRPr>
          </a:p>
          <a:p>
            <a:pPr marL="0" indent="0" algn="l">
              <a:lnSpc>
                <a:spcPct val="142000"/>
              </a:lnSpc>
            </a:pPr>
            <a:r>
              <a:rPr lang="en-US" sz="1400" b="0" i="0" u="none" strike="noStrike">
                <a:solidFill>
                  <a:srgbClr val="000000"/>
                </a:solidFill>
                <a:latin typeface="Inter"/>
                <a:ea typeface="Inter"/>
                <a:cs typeface="Inter"/>
                <a:sym typeface="Inter"/>
              </a:rPr>
              <a:t>· Removing the final fusion layer hurts overall, highlighting the value of cross-modal interaction.</a:t>
            </a:r>
            <a:endParaRPr lang="en-US" sz="1400" b="0" i="0" u="none" strike="noStrike">
              <a:solidFill>
                <a:srgbClr val="000000"/>
              </a:solidFill>
              <a:latin typeface="Inter"/>
              <a:ea typeface="Inter"/>
              <a:cs typeface="Inter"/>
              <a:sym typeface="Inter"/>
            </a:endParaRPr>
          </a:p>
        </p:txBody>
      </p:sp>
      <p:pic>
        <p:nvPicPr>
          <p:cNvPr id="6" name="图片 5"/>
          <p:cNvPicPr>
            <a:picLocks noChangeAspect="1"/>
          </p:cNvPicPr>
          <p:nvPr/>
        </p:nvPicPr>
        <p:blipFill>
          <a:blip r:embed="rId1"/>
          <a:stretch>
            <a:fillRect/>
          </a:stretch>
        </p:blipFill>
        <p:spPr>
          <a:xfrm>
            <a:off x="5742940" y="1927225"/>
            <a:ext cx="5879465" cy="1943100"/>
          </a:xfrm>
          <a:prstGeom prst="rect">
            <a:avLst/>
          </a:prstGeom>
        </p:spPr>
      </p:pic>
      <p:pic>
        <p:nvPicPr>
          <p:cNvPr id="9" name="图片 8"/>
          <p:cNvPicPr>
            <a:picLocks noChangeAspect="1"/>
          </p:cNvPicPr>
          <p:nvPr/>
        </p:nvPicPr>
        <p:blipFill>
          <a:blip r:embed="rId2"/>
          <a:stretch>
            <a:fillRect/>
          </a:stretch>
        </p:blipFill>
        <p:spPr>
          <a:xfrm>
            <a:off x="5742940" y="4010025"/>
            <a:ext cx="4217035" cy="18218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txBox="1"/>
          <p:nvPr>
            <p:custDataLst>
              <p:tags r:id="rId1"/>
            </p:custDataLst>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000000"/>
                </a:solidFill>
                <a:latin typeface="Inter"/>
                <a:ea typeface="Inter"/>
                <a:cs typeface="Inter"/>
                <a:sym typeface="Inter"/>
              </a:rPr>
              <a:t>Conclusion and Future Work</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000000">
                <a:alpha val="100000"/>
              </a:srgbClr>
            </a:solidFill>
            <a:prstDash val="solid"/>
            <a:round/>
            <a:headEnd type="none" w="med" len="med"/>
            <a:tailEnd type="none" w="med" len="med"/>
          </a:ln>
        </p:spPr>
      </p:cxnSp>
      <p:sp>
        <p:nvSpPr>
          <p:cNvPr id="4" name="AutoShape 4"/>
          <p:cNvSpPr txBox="1"/>
          <p:nvPr/>
        </p:nvSpPr>
        <p:spPr>
          <a:xfrm>
            <a:off x="1016000" y="1905000"/>
            <a:ext cx="10160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pPr>
            <a:r>
              <a:rPr lang="en-US" sz="1500" b="1" i="0" u="none" strike="noStrike">
                <a:solidFill>
                  <a:srgbClr val="000000"/>
                </a:solidFill>
                <a:latin typeface="Inter"/>
                <a:ea typeface="Inter"/>
                <a:cs typeface="Inter"/>
                <a:sym typeface="Inter"/>
              </a:rPr>
              <a:t>Conclusion</a:t>
            </a:r>
            <a:endParaRPr lang="en-US" sz="1500" b="1" i="0" u="none" strike="noStrike">
              <a:solidFill>
                <a:srgbClr val="000000"/>
              </a:solidFill>
              <a:latin typeface="Inter"/>
              <a:ea typeface="Inter"/>
              <a:cs typeface="Inter"/>
              <a:sym typeface="Inter"/>
            </a:endParaRPr>
          </a:p>
          <a:p>
            <a:pPr marL="0" indent="0" algn="l">
              <a:lnSpc>
                <a:spcPct val="150000"/>
              </a:lnSpc>
            </a:pPr>
            <a:r>
              <a:rPr lang="en-US" sz="1500" b="0" i="0" u="none" strike="noStrike">
                <a:solidFill>
                  <a:srgbClr val="000000"/>
                </a:solidFill>
                <a:latin typeface="Inter"/>
                <a:ea typeface="Inter"/>
                <a:cs typeface="Inter"/>
                <a:sym typeface="Inter"/>
              </a:rPr>
              <a:t>· Non-verbal emotional cues (prosody, facial action units) can be converted into short textual descriptions and treated as an extra modality.</a:t>
            </a:r>
            <a:endParaRPr lang="en-US" sz="1500" b="0" i="0" u="none" strike="noStrike">
              <a:solidFill>
                <a:srgbClr val="000000"/>
              </a:solidFill>
              <a:latin typeface="Inter"/>
              <a:ea typeface="Inter"/>
              <a:cs typeface="Inter"/>
              <a:sym typeface="Inter"/>
            </a:endParaRPr>
          </a:p>
          <a:p>
            <a:pPr marL="0" indent="0" algn="l">
              <a:lnSpc>
                <a:spcPct val="150000"/>
              </a:lnSpc>
            </a:pPr>
            <a:r>
              <a:rPr lang="en-US" sz="1500" b="0" i="0" u="none" strike="noStrike">
                <a:solidFill>
                  <a:srgbClr val="000000"/>
                </a:solidFill>
                <a:latin typeface="Inter"/>
                <a:ea typeface="Inter"/>
                <a:cs typeface="Inter"/>
                <a:sym typeface="Inter"/>
              </a:rPr>
              <a:t>· Using text as the core modality and progressively guiding audio-visual fusion (TPF) closes the gap between modalities.</a:t>
            </a:r>
            <a:endParaRPr lang="en-US" sz="1500" b="0" i="0" u="none" strike="noStrike">
              <a:solidFill>
                <a:srgbClr val="000000"/>
              </a:solidFill>
              <a:latin typeface="Inter"/>
              <a:ea typeface="Inter"/>
              <a:cs typeface="Inter"/>
              <a:sym typeface="Inter"/>
            </a:endParaRPr>
          </a:p>
          <a:p>
            <a:pPr marL="0" indent="0" algn="l">
              <a:lnSpc>
                <a:spcPct val="150000"/>
              </a:lnSpc>
            </a:pPr>
            <a:r>
              <a:rPr lang="en-US" sz="1500" b="0" i="0" u="none" strike="noStrike">
                <a:solidFill>
                  <a:srgbClr val="000000"/>
                </a:solidFill>
                <a:latin typeface="Inter"/>
                <a:ea typeface="Inter"/>
                <a:cs typeface="Inter"/>
                <a:sym typeface="Inter"/>
              </a:rPr>
              <a:t>· DEVA achieves state-of-the-art results on MOSI, MOSEI, and CH-SIMS, with the largest gains on fine-grained and harder classification settings.</a:t>
            </a:r>
            <a:endParaRPr lang="en-US" sz="1500" b="0" i="0" u="none" strike="noStrike">
              <a:solidFill>
                <a:srgbClr val="000000"/>
              </a:solidFill>
              <a:latin typeface="Inter"/>
              <a:ea typeface="Inter"/>
              <a:cs typeface="Inter"/>
              <a:sym typeface="Inter"/>
            </a:endParaRPr>
          </a:p>
        </p:txBody>
      </p:sp>
      <p:sp>
        <p:nvSpPr>
          <p:cNvPr id="5" name="AutoShape 5"/>
          <p:cNvSpPr txBox="1"/>
          <p:nvPr/>
        </p:nvSpPr>
        <p:spPr>
          <a:xfrm>
            <a:off x="1016000" y="4572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1" i="0" u="none" strike="noStrike">
                <a:solidFill>
                  <a:srgbClr val="000000"/>
                </a:solidFill>
                <a:latin typeface="Inter"/>
                <a:ea typeface="Inter"/>
                <a:cs typeface="Inter"/>
                <a:sym typeface="Inter"/>
              </a:rPr>
              <a:t>Future work </a:t>
            </a:r>
            <a:endParaRPr lang="en-US" sz="1100"/>
          </a:p>
          <a:p>
            <a:pPr marL="0" indent="0" algn="l">
              <a:lnSpc>
                <a:spcPct val="150000"/>
              </a:lnSpc>
            </a:pPr>
            <a:r>
              <a:rPr lang="en-US" sz="1500" b="0" i="0" u="none" strike="noStrike">
                <a:solidFill>
                  <a:srgbClr val="000000"/>
                </a:solidFill>
                <a:latin typeface="Inter"/>
                <a:ea typeface="Inter"/>
                <a:cs typeface="Inter"/>
                <a:sym typeface="Inter"/>
              </a:rPr>
              <a:t>· Enhance the fluency and naturalness of the generated emotional descriptions, so they more closely match daily human expression.</a:t>
            </a:r>
            <a:endParaRPr lang="en-US" sz="1500" b="0" i="0" u="none" strike="noStrike">
              <a:solidFill>
                <a:srgbClr val="000000"/>
              </a:solidFill>
              <a:latin typeface="Inter"/>
              <a:ea typeface="Inter"/>
              <a:cs typeface="Inter"/>
              <a:sym typeface="Inter"/>
            </a:endParaRPr>
          </a:p>
          <a:p>
            <a:pPr marL="0" indent="0" algn="l">
              <a:lnSpc>
                <a:spcPct val="150000"/>
              </a:lnSpc>
            </a:pPr>
            <a:endParaRPr lang="en-US" sz="1500" b="0" i="0" u="none" strike="noStrike">
              <a:solidFill>
                <a:srgbClr val="000000"/>
              </a:solidFill>
              <a:latin typeface="Inter"/>
              <a:ea typeface="Inter"/>
              <a:cs typeface="Inter"/>
              <a:sym typeface="Inter"/>
            </a:endParaRPr>
          </a:p>
        </p:txBody>
      </p:sp>
    </p:spTree>
  </p:cSld>
  <p:clrMapOvr>
    <a:masterClrMapping/>
  </p:clrMapOvr>
</p:sld>
</file>

<file path=ppt/tags/tag1.xml><?xml version="1.0" encoding="utf-8"?>
<p:tagLst xmlns:p="http://schemas.openxmlformats.org/presentationml/2006/main">
  <p:tag name="KSO_WM_UNIT_INDEX" val="1"/>
  <p:tag name="KSO_WM_UNIT_TYPE" val="a"/>
  <p:tag name="KSO_WM_BEAUTIFY_FLAG" val="#wm#"/>
  <p:tag name="SlideZOrder" val="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6734</Words>
  <Application>WPS 演示</Application>
  <PresentationFormat/>
  <Paragraphs>186</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12</vt:i4>
      </vt:variant>
    </vt:vector>
  </HeadingPairs>
  <TitlesOfParts>
    <vt:vector size="25" baseType="lpstr">
      <vt:lpstr>Arial</vt:lpstr>
      <vt:lpstr>宋体</vt:lpstr>
      <vt:lpstr>Wingdings</vt:lpstr>
      <vt:lpstr>Arial</vt:lpstr>
      <vt:lpstr>Inter</vt:lpstr>
      <vt:lpstr>FFont-Family</vt:lpstr>
      <vt:lpstr>Noto Sans SC</vt:lpstr>
      <vt:lpstr>微软雅黑</vt:lpstr>
      <vt:lpstr>Arial Unicode MS</vt:lpstr>
      <vt:lpstr>Wingdings</vt:lpstr>
      <vt:lpstr>Inter</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饭特里夫</cp:lastModifiedBy>
  <cp:revision>5</cp:revision>
  <dcterms:created xsi:type="dcterms:W3CDTF">2026-10-13T16:15:00Z</dcterms:created>
  <dcterms:modified xsi:type="dcterms:W3CDTF">2026-10-14T15:55:09Z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{"Label":"1","ContentProducer":"001191110102MACQD9K64010000","ProduceID":"7696061236774603732","ReservedCode1":"","ContentPropagator":"","PropagateID":"","ReservedCode2":""}</vt:lpwstr>
  </property>
  <property fmtid="{D5CDD505-2E9C-101B-9397-08002B2CF9AE}" pid="3" name="KSOProductBuildVer">
    <vt:lpwstr>2052-12.1.0.28505</vt:lpwstr>
  </property>
  <property fmtid="{D5CDD505-2E9C-101B-9397-08002B2CF9AE}" pid="4" name="ICV">
    <vt:lpwstr>147AD6F52A714424A2BF154C82A7AF3F_12</vt:lpwstr>
  </property>
</Properties>
</file>